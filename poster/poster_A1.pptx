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latin typeface="Arial"/>
              </a:rPr>
              <a:t>Судьба фотонов (% от упавших на массив), энергия в кэВ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Sheet1!$C$1</c:f>
              <c:strCache>
                <c:ptCount val="1"/>
                <c:pt idx="0">
                  <c:v>в фокусное пятно r ≤ 1 мкм</c:v>
                </c:pt>
              </c:strCache>
            </c:strRef>
          </c:tx>
          <c:spPr>
            <a:solidFill>
              <a:srgbClr val="14325C"/>
            </a:solidFill>
          </c:spPr>
          <c:dLbls>
            <c:numFmt formatCode="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multiLvlStrRef>
              <c:f>Sheet1!$A$2:$B$13</c:f>
              <c:multiLvlStrCache>
                <c:ptCount val="12"/>
                <c:lvl>
                  <c:pt idx="0">
                    <c:v>25 кэВ</c:v>
                  </c:pt>
                  <c:pt idx="1">
                    <c:v>30,4 кэВ</c:v>
                  </c:pt>
                  <c:pt idx="2">
                    <c:v>30,6 кэВ</c:v>
                  </c:pt>
                  <c:pt idx="3">
                    <c:v>35 кэВ</c:v>
                  </c:pt>
                  <c:pt idx="4">
                    <c:v>25 кэВ</c:v>
                  </c:pt>
                  <c:pt idx="5">
                    <c:v>30,4 кэВ</c:v>
                  </c:pt>
                  <c:pt idx="6">
                    <c:v>30,6 кэВ</c:v>
                  </c:pt>
                  <c:pt idx="7">
                    <c:v>35 кэВ</c:v>
                  </c:pt>
                  <c:pt idx="8">
                    <c:v>25 кэВ</c:v>
                  </c:pt>
                  <c:pt idx="9">
                    <c:v>30,4 кэВ</c:v>
                  </c:pt>
                  <c:pt idx="10">
                    <c:v>30,6 кэВ</c:v>
                  </c:pt>
                  <c:pt idx="11">
                    <c:v>35 кэВ</c:v>
                  </c:pt>
                </c:lvl>
                <c:lvl>
                  <c:pt idx="0">
                    <c:v>Объектив 1</c:v>
                  </c:pt>
                  <c:pt idx="4">
                    <c:v>Объектив 2, N=180</c:v>
                  </c:pt>
                  <c:pt idx="8">
                    <c:v>Конденсор 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34.7</c:v>
                </c:pt>
                <c:pt idx="1">
                  <c:v>42.3</c:v>
                </c:pt>
                <c:pt idx="2">
                  <c:v>20.4</c:v>
                </c:pt>
                <c:pt idx="3">
                  <c:v>25.6</c:v>
                </c:pt>
                <c:pt idx="4">
                  <c:v>42.9</c:v>
                </c:pt>
                <c:pt idx="5">
                  <c:v>50.1</c:v>
                </c:pt>
                <c:pt idx="6">
                  <c:v>25.9</c:v>
                </c:pt>
                <c:pt idx="7">
                  <c:v>32.0</c:v>
                </c:pt>
                <c:pt idx="8">
                  <c:v>23.6</c:v>
                </c:pt>
                <c:pt idx="9">
                  <c:v>31.5</c:v>
                </c:pt>
                <c:pt idx="10">
                  <c:v>15.4</c:v>
                </c:pt>
                <c:pt idx="11">
                  <c:v>19.9</c:v>
                </c:pt>
              </c:numCache>
            </c:numRef>
          </c:val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шум в плоскости перетяжки</c:v>
                </c:pt>
              </c:strCache>
            </c:strRef>
          </c:tx>
          <c:spPr>
            <a:solidFill>
              <a:srgbClr val="E67E22"/>
            </a:solidFill>
          </c:spPr>
          <c:cat>
            <c:multiLvlStrRef>
              <c:f>Sheet1!$A$2:$B$13</c:f>
              <c:multiLvlStrCache>
                <c:ptCount val="12"/>
                <c:lvl>
                  <c:pt idx="0">
                    <c:v>25 кэВ</c:v>
                  </c:pt>
                  <c:pt idx="1">
                    <c:v>30,4 кэВ</c:v>
                  </c:pt>
                  <c:pt idx="2">
                    <c:v>30,6 кэВ</c:v>
                  </c:pt>
                  <c:pt idx="3">
                    <c:v>35 кэВ</c:v>
                  </c:pt>
                  <c:pt idx="4">
                    <c:v>25 кэВ</c:v>
                  </c:pt>
                  <c:pt idx="5">
                    <c:v>30,4 кэВ</c:v>
                  </c:pt>
                  <c:pt idx="6">
                    <c:v>30,6 кэВ</c:v>
                  </c:pt>
                  <c:pt idx="7">
                    <c:v>35 кэВ</c:v>
                  </c:pt>
                  <c:pt idx="8">
                    <c:v>25 кэВ</c:v>
                  </c:pt>
                  <c:pt idx="9">
                    <c:v>30,4 кэВ</c:v>
                  </c:pt>
                  <c:pt idx="10">
                    <c:v>30,6 кэВ</c:v>
                  </c:pt>
                  <c:pt idx="11">
                    <c:v>35 кэВ</c:v>
                  </c:pt>
                </c:lvl>
                <c:lvl>
                  <c:pt idx="0">
                    <c:v>Объектив 1</c:v>
                  </c:pt>
                  <c:pt idx="4">
                    <c:v>Объектив 2, N=180</c:v>
                  </c:pt>
                  <c:pt idx="8">
                    <c:v>Конденсор 2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0.2</c:v>
                </c:pt>
                <c:pt idx="1">
                  <c:v>0.3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0.3</c:v>
                </c:pt>
                <c:pt idx="6">
                  <c:v>0.1</c:v>
                </c:pt>
                <c:pt idx="7">
                  <c:v>0.2</c:v>
                </c:pt>
                <c:pt idx="8">
                  <c:v>0.5</c:v>
                </c:pt>
                <c:pt idx="9">
                  <c:v>0.7</c:v>
                </c:pt>
                <c:pt idx="10">
                  <c:v>0.2</c:v>
                </c:pt>
                <c:pt idx="11">
                  <c:v>0.3</c:v>
                </c:pt>
              </c:numCache>
            </c:numRef>
          </c:val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поглощены (фотоэффект)</c:v>
                </c:pt>
              </c:strCache>
            </c:strRef>
          </c:tx>
          <c:spPr>
            <a:solidFill>
              <a:srgbClr val="C0392B"/>
            </a:solidFill>
          </c:spPr>
          <c:dLbls>
            <c:numFmt formatCode="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multiLvlStrRef>
              <c:f>Sheet1!$A$2:$B$13</c:f>
              <c:multiLvlStrCache>
                <c:ptCount val="12"/>
                <c:lvl>
                  <c:pt idx="0">
                    <c:v>25 кэВ</c:v>
                  </c:pt>
                  <c:pt idx="1">
                    <c:v>30,4 кэВ</c:v>
                  </c:pt>
                  <c:pt idx="2">
                    <c:v>30,6 кэВ</c:v>
                  </c:pt>
                  <c:pt idx="3">
                    <c:v>35 кэВ</c:v>
                  </c:pt>
                  <c:pt idx="4">
                    <c:v>25 кэВ</c:v>
                  </c:pt>
                  <c:pt idx="5">
                    <c:v>30,4 кэВ</c:v>
                  </c:pt>
                  <c:pt idx="6">
                    <c:v>30,6 кэВ</c:v>
                  </c:pt>
                  <c:pt idx="7">
                    <c:v>35 кэВ</c:v>
                  </c:pt>
                  <c:pt idx="8">
                    <c:v>25 кэВ</c:v>
                  </c:pt>
                  <c:pt idx="9">
                    <c:v>30,4 кэВ</c:v>
                  </c:pt>
                  <c:pt idx="10">
                    <c:v>30,6 кэВ</c:v>
                  </c:pt>
                  <c:pt idx="11">
                    <c:v>35 кэВ</c:v>
                  </c:pt>
                </c:lvl>
                <c:lvl>
                  <c:pt idx="0">
                    <c:v>Объектив 1</c:v>
                  </c:pt>
                  <c:pt idx="4">
                    <c:v>Объектив 2, N=180</c:v>
                  </c:pt>
                  <c:pt idx="8">
                    <c:v>Конденсор 2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36.5</c:v>
                </c:pt>
                <c:pt idx="1">
                  <c:v>25.1</c:v>
                </c:pt>
                <c:pt idx="2">
                  <c:v>58.7</c:v>
                </c:pt>
                <c:pt idx="3">
                  <c:v>49.8</c:v>
                </c:pt>
                <c:pt idx="4">
                  <c:v>32.1</c:v>
                </c:pt>
                <c:pt idx="5">
                  <c:v>21.5</c:v>
                </c:pt>
                <c:pt idx="6">
                  <c:v>54.5</c:v>
                </c:pt>
                <c:pt idx="7">
                  <c:v>45.5</c:v>
                </c:pt>
                <c:pt idx="8">
                  <c:v>43.5</c:v>
                </c:pt>
                <c:pt idx="9">
                  <c:v>29.9</c:v>
                </c:pt>
                <c:pt idx="10">
                  <c:v>62.4</c:v>
                </c:pt>
                <c:pt idx="11">
                  <c:v>53.9</c:v>
                </c:pt>
              </c:numCache>
            </c:numRef>
          </c:val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рассеяны из пучка</c:v>
                </c:pt>
              </c:strCache>
            </c:strRef>
          </c:tx>
          <c:spPr>
            <a:solidFill>
              <a:srgbClr val="8C8C8C"/>
            </a:solidFill>
          </c:spPr>
          <c:dLbls>
            <c:numFmt formatCode="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multiLvlStrRef>
              <c:f>Sheet1!$A$2:$B$13</c:f>
              <c:multiLvlStrCache>
                <c:ptCount val="12"/>
                <c:lvl>
                  <c:pt idx="0">
                    <c:v>25 кэВ</c:v>
                  </c:pt>
                  <c:pt idx="1">
                    <c:v>30,4 кэВ</c:v>
                  </c:pt>
                  <c:pt idx="2">
                    <c:v>30,6 кэВ</c:v>
                  </c:pt>
                  <c:pt idx="3">
                    <c:v>35 кэВ</c:v>
                  </c:pt>
                  <c:pt idx="4">
                    <c:v>25 кэВ</c:v>
                  </c:pt>
                  <c:pt idx="5">
                    <c:v>30,4 кэВ</c:v>
                  </c:pt>
                  <c:pt idx="6">
                    <c:v>30,6 кэВ</c:v>
                  </c:pt>
                  <c:pt idx="7">
                    <c:v>35 кэВ</c:v>
                  </c:pt>
                  <c:pt idx="8">
                    <c:v>25 кэВ</c:v>
                  </c:pt>
                  <c:pt idx="9">
                    <c:v>30,4 кэВ</c:v>
                  </c:pt>
                  <c:pt idx="10">
                    <c:v>30,6 кэВ</c:v>
                  </c:pt>
                  <c:pt idx="11">
                    <c:v>35 кэВ</c:v>
                  </c:pt>
                </c:lvl>
                <c:lvl>
                  <c:pt idx="0">
                    <c:v>Объектив 1</c:v>
                  </c:pt>
                  <c:pt idx="4">
                    <c:v>Объектив 2, N=180</c:v>
                  </c:pt>
                  <c:pt idx="8">
                    <c:v>Конденсор 2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28.7</c:v>
                </c:pt>
                <c:pt idx="1">
                  <c:v>32.3</c:v>
                </c:pt>
                <c:pt idx="2">
                  <c:v>20.8</c:v>
                </c:pt>
                <c:pt idx="3">
                  <c:v>24.4</c:v>
                </c:pt>
                <c:pt idx="4">
                  <c:v>24.8</c:v>
                </c:pt>
                <c:pt idx="5">
                  <c:v>28.1</c:v>
                </c:pt>
                <c:pt idx="6">
                  <c:v>19.5</c:v>
                </c:pt>
                <c:pt idx="7">
                  <c:v>22.3</c:v>
                </c:pt>
                <c:pt idx="8">
                  <c:v>32.4</c:v>
                </c:pt>
                <c:pt idx="9">
                  <c:v>37.9</c:v>
                </c:pt>
                <c:pt idx="10">
                  <c:v>22.0</c:v>
                </c:pt>
                <c:pt idx="11">
                  <c:v>26.0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 b="0">
                    <a:latin typeface="Arial"/>
                  </a:rPr>
                  <a:t>% фотонов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Arial"/>
            </a:defRPr>
          </a:pPr>
        </a:p>
      </c:txPr>
    </c:legend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latin typeface="Arial"/>
              </a:rPr>
              <a:t>Состав шума, объектив 1 (% от упавших)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рэлеевское</c:v>
                </c:pt>
              </c:strCache>
            </c:strRef>
          </c:tx>
          <c:spPr>
            <a:solidFill>
              <a:srgbClr val="2E8B57"/>
            </a:solidFill>
          </c:spPr>
          <c:cat>
            <c:strRef>
              <c:f>Sheet1!$A$2:$A$5</c:f>
              <c:strCache>
                <c:ptCount val="4"/>
                <c:pt idx="0">
                  <c:v>25</c:v>
                </c:pt>
                <c:pt idx="1">
                  <c:v>30,4</c:v>
                </c:pt>
                <c:pt idx="2">
                  <c:v>30,6</c:v>
                </c:pt>
                <c:pt idx="3">
                  <c:v>35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0.129</c:v>
                </c:pt>
                <c:pt idx="1">
                  <c:v>0.186</c:v>
                </c:pt>
                <c:pt idx="2">
                  <c:v>0.08</c:v>
                </c:pt>
                <c:pt idx="3">
                  <c:v>0.112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комптоновское</c:v>
                </c:pt>
              </c:strCache>
            </c:strRef>
          </c:tx>
          <c:spPr>
            <a:solidFill>
              <a:srgbClr val="E67E22"/>
            </a:solidFill>
          </c:spPr>
          <c:cat>
            <c:strRef>
              <c:f>Sheet1!$A$2:$A$5</c:f>
              <c:strCache>
                <c:ptCount val="4"/>
                <c:pt idx="0">
                  <c:v>25</c:v>
                </c:pt>
                <c:pt idx="1">
                  <c:v>30,4</c:v>
                </c:pt>
                <c:pt idx="2">
                  <c:v>30,6</c:v>
                </c:pt>
                <c:pt idx="3">
                  <c:v>35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0.047</c:v>
                </c:pt>
                <c:pt idx="1">
                  <c:v>0.075</c:v>
                </c:pt>
                <c:pt idx="2">
                  <c:v>0.027</c:v>
                </c:pt>
                <c:pt idx="3">
                  <c:v>0.049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флуоресценция Sb</c:v>
                </c:pt>
              </c:strCache>
            </c:strRef>
          </c:tx>
          <c:spPr>
            <a:solidFill>
              <a:srgbClr val="8E44AD"/>
            </a:solidFill>
          </c:spPr>
          <c:cat>
            <c:strRef>
              <c:f>Sheet1!$A$2:$A$5</c:f>
              <c:strCache>
                <c:ptCount val="4"/>
                <c:pt idx="0">
                  <c:v>25</c:v>
                </c:pt>
                <c:pt idx="1">
                  <c:v>30,4</c:v>
                </c:pt>
                <c:pt idx="2">
                  <c:v>30,6</c:v>
                </c:pt>
                <c:pt idx="3">
                  <c:v>35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0.001</c:v>
                </c:pt>
                <c:pt idx="2">
                  <c:v>0.069</c:v>
                </c:pt>
                <c:pt idx="3">
                  <c:v>0.083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latin typeface="Arial"/>
                  </a:rPr>
                  <a:t>энергия, кэВ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0.00" sourceLinked="0"/>
        <c:majorTickMark val="out"/>
        <c:minorTickMark val="none"/>
        <c:tickLblPos val="nextTo"/>
        <c:crossAx val="-2068027336"/>
        <c:crosses val="autoZero"/>
        <c:majorUnit val="0.05"/>
      </c:valAx>
    </c:plotArea>
    <c:legend>
      <c:legendPos val="b"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latin typeface="Arial"/>
              </a:rPr>
              <a:t>Ослабление в SU-8 (Geant4 Livermore), 1/см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SU-8: полное</c:v>
                </c:pt>
              </c:strCache>
            </c:strRef>
          </c:tx>
          <c:spPr>
            <a:ln w="38100">
              <a:solidFill>
                <a:srgbClr val="14325C"/>
              </a:solidFill>
            </a:ln>
          </c:spPr>
          <c:marker>
            <c:symbol val="none"/>
          </c:marker>
          <c:xVal>
            <c:numRef>
              <c:f>Sheet1!$A$2:$A$47</c:f>
              <c:numCache>
                <c:formatCode>General</c:formatCode>
                <c:ptCount val="46"/>
                <c:pt idx="0">
                  <c:v>15.0</c:v>
                </c:pt>
                <c:pt idx="1">
                  <c:v>15.5</c:v>
                </c:pt>
                <c:pt idx="2">
                  <c:v>16.0</c:v>
                </c:pt>
                <c:pt idx="3">
                  <c:v>16.5</c:v>
                </c:pt>
                <c:pt idx="4">
                  <c:v>17.0</c:v>
                </c:pt>
                <c:pt idx="5">
                  <c:v>17.5</c:v>
                </c:pt>
                <c:pt idx="6">
                  <c:v>18.0</c:v>
                </c:pt>
                <c:pt idx="7">
                  <c:v>18.5</c:v>
                </c:pt>
                <c:pt idx="8">
                  <c:v>19.0</c:v>
                </c:pt>
                <c:pt idx="9">
                  <c:v>19.5</c:v>
                </c:pt>
                <c:pt idx="10">
                  <c:v>20.0</c:v>
                </c:pt>
                <c:pt idx="11">
                  <c:v>20.5</c:v>
                </c:pt>
                <c:pt idx="12">
                  <c:v>21.0</c:v>
                </c:pt>
                <c:pt idx="13">
                  <c:v>21.5</c:v>
                </c:pt>
                <c:pt idx="14">
                  <c:v>22.0</c:v>
                </c:pt>
                <c:pt idx="15">
                  <c:v>22.5</c:v>
                </c:pt>
                <c:pt idx="16">
                  <c:v>23.0</c:v>
                </c:pt>
                <c:pt idx="17">
                  <c:v>23.5</c:v>
                </c:pt>
                <c:pt idx="18">
                  <c:v>24.0</c:v>
                </c:pt>
                <c:pt idx="19">
                  <c:v>24.5</c:v>
                </c:pt>
                <c:pt idx="20">
                  <c:v>25.0</c:v>
                </c:pt>
                <c:pt idx="21">
                  <c:v>25.5</c:v>
                </c:pt>
                <c:pt idx="22">
                  <c:v>26.0</c:v>
                </c:pt>
                <c:pt idx="23">
                  <c:v>26.5</c:v>
                </c:pt>
                <c:pt idx="24">
                  <c:v>27.0</c:v>
                </c:pt>
                <c:pt idx="25">
                  <c:v>27.5</c:v>
                </c:pt>
                <c:pt idx="26">
                  <c:v>28.0</c:v>
                </c:pt>
                <c:pt idx="27">
                  <c:v>28.5</c:v>
                </c:pt>
                <c:pt idx="28">
                  <c:v>29.0</c:v>
                </c:pt>
                <c:pt idx="29">
                  <c:v>29.5</c:v>
                </c:pt>
                <c:pt idx="30">
                  <c:v>30.0</c:v>
                </c:pt>
                <c:pt idx="31">
                  <c:v>30.4</c:v>
                </c:pt>
                <c:pt idx="32">
                  <c:v>30.48</c:v>
                </c:pt>
                <c:pt idx="33">
                  <c:v>30.49</c:v>
                </c:pt>
                <c:pt idx="34">
                  <c:v>30.5</c:v>
                </c:pt>
                <c:pt idx="35">
                  <c:v>30.52</c:v>
                </c:pt>
                <c:pt idx="36">
                  <c:v>30.6</c:v>
                </c:pt>
                <c:pt idx="37">
                  <c:v>31.0</c:v>
                </c:pt>
                <c:pt idx="38">
                  <c:v>31.5</c:v>
                </c:pt>
                <c:pt idx="39">
                  <c:v>32.0</c:v>
                </c:pt>
                <c:pt idx="40">
                  <c:v>32.5</c:v>
                </c:pt>
                <c:pt idx="41">
                  <c:v>33.0</c:v>
                </c:pt>
                <c:pt idx="42">
                  <c:v>33.5</c:v>
                </c:pt>
                <c:pt idx="43">
                  <c:v>34.0</c:v>
                </c:pt>
                <c:pt idx="44">
                  <c:v>34.5</c:v>
                </c:pt>
                <c:pt idx="45">
                  <c:v>35.0</c:v>
                </c:pt>
              </c:numCache>
            </c:numRef>
          </c:xVal>
          <c:yVal>
            <c:numRef>
              <c:f>Sheet1!$B$2:$B$47</c:f>
              <c:numCache>
                <c:formatCode>General</c:formatCode>
                <c:ptCount val="46"/>
                <c:pt idx="0">
                  <c:v>2.07464</c:v>
                </c:pt>
                <c:pt idx="1">
                  <c:v>1.90945</c:v>
                </c:pt>
                <c:pt idx="2">
                  <c:v>1.76366</c:v>
                </c:pt>
                <c:pt idx="3">
                  <c:v>1.63437</c:v>
                </c:pt>
                <c:pt idx="4">
                  <c:v>1.51961</c:v>
                </c:pt>
                <c:pt idx="5">
                  <c:v>1.41711</c:v>
                </c:pt>
                <c:pt idx="6">
                  <c:v>1.32524</c:v>
                </c:pt>
                <c:pt idx="7">
                  <c:v>1.24296</c:v>
                </c:pt>
                <c:pt idx="8">
                  <c:v>1.16899</c:v>
                </c:pt>
                <c:pt idx="9">
                  <c:v>1.10194</c:v>
                </c:pt>
                <c:pt idx="10">
                  <c:v>1.04135</c:v>
                </c:pt>
                <c:pt idx="11">
                  <c:v>0.98619</c:v>
                </c:pt>
                <c:pt idx="12">
                  <c:v>0.93599</c:v>
                </c:pt>
                <c:pt idx="13">
                  <c:v>0.89017</c:v>
                </c:pt>
                <c:pt idx="14">
                  <c:v>0.84831</c:v>
                </c:pt>
                <c:pt idx="15">
                  <c:v>0.81002</c:v>
                </c:pt>
                <c:pt idx="16">
                  <c:v>0.77474</c:v>
                </c:pt>
                <c:pt idx="17">
                  <c:v>0.74237</c:v>
                </c:pt>
                <c:pt idx="18">
                  <c:v>0.71255</c:v>
                </c:pt>
                <c:pt idx="19">
                  <c:v>0.68505</c:v>
                </c:pt>
                <c:pt idx="20">
                  <c:v>0.65961</c:v>
                </c:pt>
                <c:pt idx="21">
                  <c:v>0.63585</c:v>
                </c:pt>
                <c:pt idx="22">
                  <c:v>0.61378</c:v>
                </c:pt>
                <c:pt idx="23">
                  <c:v>0.59329</c:v>
                </c:pt>
                <c:pt idx="24">
                  <c:v>0.57421</c:v>
                </c:pt>
                <c:pt idx="25">
                  <c:v>0.55634</c:v>
                </c:pt>
                <c:pt idx="26">
                  <c:v>0.53965</c:v>
                </c:pt>
                <c:pt idx="27">
                  <c:v>0.52415</c:v>
                </c:pt>
                <c:pt idx="28">
                  <c:v>0.50961</c:v>
                </c:pt>
                <c:pt idx="29">
                  <c:v>0.49584</c:v>
                </c:pt>
                <c:pt idx="30">
                  <c:v>0.48252</c:v>
                </c:pt>
                <c:pt idx="31">
                  <c:v>0.47245</c:v>
                </c:pt>
                <c:pt idx="32">
                  <c:v>0.4707</c:v>
                </c:pt>
                <c:pt idx="33">
                  <c:v>0.47048</c:v>
                </c:pt>
                <c:pt idx="34">
                  <c:v>1.01879</c:v>
                </c:pt>
                <c:pt idx="35">
                  <c:v>1.0175</c:v>
                </c:pt>
                <c:pt idx="36">
                  <c:v>1.01235</c:v>
                </c:pt>
                <c:pt idx="37">
                  <c:v>0.98799</c:v>
                </c:pt>
                <c:pt idx="38">
                  <c:v>0.95801</c:v>
                </c:pt>
                <c:pt idx="39">
                  <c:v>0.92921</c:v>
                </c:pt>
                <c:pt idx="40">
                  <c:v>0.9017</c:v>
                </c:pt>
                <c:pt idx="41">
                  <c:v>0.87526</c:v>
                </c:pt>
                <c:pt idx="42">
                  <c:v>0.85011</c:v>
                </c:pt>
                <c:pt idx="43">
                  <c:v>0.82619</c:v>
                </c:pt>
                <c:pt idx="44">
                  <c:v>0.80343</c:v>
                </c:pt>
                <c:pt idx="45">
                  <c:v>0.78177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Sheet1!$B$49</c:f>
              <c:strCache>
                <c:ptCount val="1"/>
                <c:pt idx="0">
                  <c:v>SU-8: фотоэффект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xVal>
            <c:numRef>
              <c:f>Sheet1!$A$50:$A$95</c:f>
              <c:numCache>
                <c:formatCode>General</c:formatCode>
                <c:ptCount val="46"/>
                <c:pt idx="0">
                  <c:v>15.0</c:v>
                </c:pt>
                <c:pt idx="1">
                  <c:v>15.5</c:v>
                </c:pt>
                <c:pt idx="2">
                  <c:v>16.0</c:v>
                </c:pt>
                <c:pt idx="3">
                  <c:v>16.5</c:v>
                </c:pt>
                <c:pt idx="4">
                  <c:v>17.0</c:v>
                </c:pt>
                <c:pt idx="5">
                  <c:v>17.5</c:v>
                </c:pt>
                <c:pt idx="6">
                  <c:v>18.0</c:v>
                </c:pt>
                <c:pt idx="7">
                  <c:v>18.5</c:v>
                </c:pt>
                <c:pt idx="8">
                  <c:v>19.0</c:v>
                </c:pt>
                <c:pt idx="9">
                  <c:v>19.5</c:v>
                </c:pt>
                <c:pt idx="10">
                  <c:v>20.0</c:v>
                </c:pt>
                <c:pt idx="11">
                  <c:v>20.5</c:v>
                </c:pt>
                <c:pt idx="12">
                  <c:v>21.0</c:v>
                </c:pt>
                <c:pt idx="13">
                  <c:v>21.5</c:v>
                </c:pt>
                <c:pt idx="14">
                  <c:v>22.0</c:v>
                </c:pt>
                <c:pt idx="15">
                  <c:v>22.5</c:v>
                </c:pt>
                <c:pt idx="16">
                  <c:v>23.0</c:v>
                </c:pt>
                <c:pt idx="17">
                  <c:v>23.5</c:v>
                </c:pt>
                <c:pt idx="18">
                  <c:v>24.0</c:v>
                </c:pt>
                <c:pt idx="19">
                  <c:v>24.5</c:v>
                </c:pt>
                <c:pt idx="20">
                  <c:v>25.0</c:v>
                </c:pt>
                <c:pt idx="21">
                  <c:v>25.5</c:v>
                </c:pt>
                <c:pt idx="22">
                  <c:v>26.0</c:v>
                </c:pt>
                <c:pt idx="23">
                  <c:v>26.5</c:v>
                </c:pt>
                <c:pt idx="24">
                  <c:v>27.0</c:v>
                </c:pt>
                <c:pt idx="25">
                  <c:v>27.5</c:v>
                </c:pt>
                <c:pt idx="26">
                  <c:v>28.0</c:v>
                </c:pt>
                <c:pt idx="27">
                  <c:v>28.5</c:v>
                </c:pt>
                <c:pt idx="28">
                  <c:v>29.0</c:v>
                </c:pt>
                <c:pt idx="29">
                  <c:v>29.5</c:v>
                </c:pt>
                <c:pt idx="30">
                  <c:v>30.0</c:v>
                </c:pt>
                <c:pt idx="31">
                  <c:v>30.4</c:v>
                </c:pt>
                <c:pt idx="32">
                  <c:v>30.48</c:v>
                </c:pt>
                <c:pt idx="33">
                  <c:v>30.49</c:v>
                </c:pt>
                <c:pt idx="34">
                  <c:v>30.5</c:v>
                </c:pt>
                <c:pt idx="35">
                  <c:v>30.52</c:v>
                </c:pt>
                <c:pt idx="36">
                  <c:v>30.6</c:v>
                </c:pt>
                <c:pt idx="37">
                  <c:v>31.0</c:v>
                </c:pt>
                <c:pt idx="38">
                  <c:v>31.5</c:v>
                </c:pt>
                <c:pt idx="39">
                  <c:v>32.0</c:v>
                </c:pt>
                <c:pt idx="40">
                  <c:v>32.5</c:v>
                </c:pt>
                <c:pt idx="41">
                  <c:v>33.0</c:v>
                </c:pt>
                <c:pt idx="42">
                  <c:v>33.5</c:v>
                </c:pt>
                <c:pt idx="43">
                  <c:v>34.0</c:v>
                </c:pt>
                <c:pt idx="44">
                  <c:v>34.5</c:v>
                </c:pt>
                <c:pt idx="45">
                  <c:v>35.0</c:v>
                </c:pt>
              </c:numCache>
            </c:numRef>
          </c:xVal>
          <c:yVal>
            <c:numRef>
              <c:f>Sheet1!$B$50:$B$95</c:f>
              <c:numCache>
                <c:formatCode>General</c:formatCode>
                <c:ptCount val="46"/>
                <c:pt idx="0">
                  <c:v>1.71467</c:v>
                </c:pt>
                <c:pt idx="1">
                  <c:v>1.55486</c:v>
                </c:pt>
                <c:pt idx="2">
                  <c:v>1.41421</c:v>
                </c:pt>
                <c:pt idx="3">
                  <c:v>1.28991</c:v>
                </c:pt>
                <c:pt idx="4">
                  <c:v>1.17989</c:v>
                </c:pt>
                <c:pt idx="5">
                  <c:v>1.0818</c:v>
                </c:pt>
                <c:pt idx="6">
                  <c:v>0.99412</c:v>
                </c:pt>
                <c:pt idx="7">
                  <c:v>0.91577</c:v>
                </c:pt>
                <c:pt idx="8">
                  <c:v>0.84547</c:v>
                </c:pt>
                <c:pt idx="9">
                  <c:v>0.78195</c:v>
                </c:pt>
                <c:pt idx="10">
                  <c:v>0.72472</c:v>
                </c:pt>
                <c:pt idx="11">
                  <c:v>0.67282</c:v>
                </c:pt>
                <c:pt idx="12">
                  <c:v>0.62577</c:v>
                </c:pt>
                <c:pt idx="13">
                  <c:v>0.58293</c:v>
                </c:pt>
                <c:pt idx="14">
                  <c:v>0.54388</c:v>
                </c:pt>
                <c:pt idx="15">
                  <c:v>0.50825</c:v>
                </c:pt>
                <c:pt idx="16">
                  <c:v>0.47556</c:v>
                </c:pt>
                <c:pt idx="17">
                  <c:v>0.44563</c:v>
                </c:pt>
                <c:pt idx="18">
                  <c:v>0.41812</c:v>
                </c:pt>
                <c:pt idx="19">
                  <c:v>0.39281</c:v>
                </c:pt>
                <c:pt idx="20">
                  <c:v>0.36952</c:v>
                </c:pt>
                <c:pt idx="21">
                  <c:v>0.34795</c:v>
                </c:pt>
                <c:pt idx="22">
                  <c:v>0.32801</c:v>
                </c:pt>
                <c:pt idx="23">
                  <c:v>0.30955</c:v>
                </c:pt>
                <c:pt idx="24">
                  <c:v>0.29246</c:v>
                </c:pt>
                <c:pt idx="25">
                  <c:v>0.27657</c:v>
                </c:pt>
                <c:pt idx="26">
                  <c:v>0.26179</c:v>
                </c:pt>
                <c:pt idx="27">
                  <c:v>0.24809</c:v>
                </c:pt>
                <c:pt idx="28">
                  <c:v>0.23527</c:v>
                </c:pt>
                <c:pt idx="29">
                  <c:v>0.22337</c:v>
                </c:pt>
                <c:pt idx="30">
                  <c:v>0.21215</c:v>
                </c:pt>
                <c:pt idx="31">
                  <c:v>0.20372</c:v>
                </c:pt>
                <c:pt idx="32">
                  <c:v>0.20207</c:v>
                </c:pt>
                <c:pt idx="33">
                  <c:v>0.20187</c:v>
                </c:pt>
                <c:pt idx="34">
                  <c:v>0.75019</c:v>
                </c:pt>
                <c:pt idx="35">
                  <c:v>0.74893</c:v>
                </c:pt>
                <c:pt idx="36">
                  <c:v>0.7439</c:v>
                </c:pt>
                <c:pt idx="37">
                  <c:v>0.7193</c:v>
                </c:pt>
                <c:pt idx="38">
                  <c:v>0.68987</c:v>
                </c:pt>
                <c:pt idx="39">
                  <c:v>0.66186</c:v>
                </c:pt>
                <c:pt idx="40">
                  <c:v>0.6352</c:v>
                </c:pt>
                <c:pt idx="41">
                  <c:v>0.60986</c:v>
                </c:pt>
                <c:pt idx="42">
                  <c:v>0.58576</c:v>
                </c:pt>
                <c:pt idx="43">
                  <c:v>0.56285</c:v>
                </c:pt>
                <c:pt idx="44">
                  <c:v>0.54107</c:v>
                </c:pt>
                <c:pt idx="45">
                  <c:v>0.52036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Sheet1!$B$97</c:f>
              <c:strCache>
                <c:ptCount val="1"/>
                <c:pt idx="0">
                  <c:v>из них сурьма</c:v>
                </c:pt>
              </c:strCache>
            </c:strRef>
          </c:tx>
          <c:spPr>
            <a:ln w="25400">
              <a:solidFill>
                <a:srgbClr val="C0392B"/>
              </a:solidFill>
              <a:prstDash val="sysDash"/>
            </a:ln>
          </c:spPr>
          <c:marker>
            <c:symbol val="none"/>
          </c:marker>
          <c:xVal>
            <c:numRef>
              <c:f>Sheet1!$A$98:$A$143</c:f>
              <c:numCache>
                <c:formatCode>General</c:formatCode>
                <c:ptCount val="46"/>
                <c:pt idx="0">
                  <c:v>15.0</c:v>
                </c:pt>
                <c:pt idx="1">
                  <c:v>15.5</c:v>
                </c:pt>
                <c:pt idx="2">
                  <c:v>16.0</c:v>
                </c:pt>
                <c:pt idx="3">
                  <c:v>16.5</c:v>
                </c:pt>
                <c:pt idx="4">
                  <c:v>17.0</c:v>
                </c:pt>
                <c:pt idx="5">
                  <c:v>17.5</c:v>
                </c:pt>
                <c:pt idx="6">
                  <c:v>18.0</c:v>
                </c:pt>
                <c:pt idx="7">
                  <c:v>18.5</c:v>
                </c:pt>
                <c:pt idx="8">
                  <c:v>19.0</c:v>
                </c:pt>
                <c:pt idx="9">
                  <c:v>19.5</c:v>
                </c:pt>
                <c:pt idx="10">
                  <c:v>20.0</c:v>
                </c:pt>
                <c:pt idx="11">
                  <c:v>20.5</c:v>
                </c:pt>
                <c:pt idx="12">
                  <c:v>21.0</c:v>
                </c:pt>
                <c:pt idx="13">
                  <c:v>21.5</c:v>
                </c:pt>
                <c:pt idx="14">
                  <c:v>22.0</c:v>
                </c:pt>
                <c:pt idx="15">
                  <c:v>22.5</c:v>
                </c:pt>
                <c:pt idx="16">
                  <c:v>23.0</c:v>
                </c:pt>
                <c:pt idx="17">
                  <c:v>23.5</c:v>
                </c:pt>
                <c:pt idx="18">
                  <c:v>24.0</c:v>
                </c:pt>
                <c:pt idx="19">
                  <c:v>24.5</c:v>
                </c:pt>
                <c:pt idx="20">
                  <c:v>25.0</c:v>
                </c:pt>
                <c:pt idx="21">
                  <c:v>25.5</c:v>
                </c:pt>
                <c:pt idx="22">
                  <c:v>26.0</c:v>
                </c:pt>
                <c:pt idx="23">
                  <c:v>26.5</c:v>
                </c:pt>
                <c:pt idx="24">
                  <c:v>27.0</c:v>
                </c:pt>
                <c:pt idx="25">
                  <c:v>27.5</c:v>
                </c:pt>
                <c:pt idx="26">
                  <c:v>28.0</c:v>
                </c:pt>
                <c:pt idx="27">
                  <c:v>28.5</c:v>
                </c:pt>
                <c:pt idx="28">
                  <c:v>29.0</c:v>
                </c:pt>
                <c:pt idx="29">
                  <c:v>29.5</c:v>
                </c:pt>
                <c:pt idx="30">
                  <c:v>30.0</c:v>
                </c:pt>
                <c:pt idx="31">
                  <c:v>30.4</c:v>
                </c:pt>
                <c:pt idx="32">
                  <c:v>30.48</c:v>
                </c:pt>
                <c:pt idx="33">
                  <c:v>30.49</c:v>
                </c:pt>
                <c:pt idx="34">
                  <c:v>30.5</c:v>
                </c:pt>
                <c:pt idx="35">
                  <c:v>30.52</c:v>
                </c:pt>
                <c:pt idx="36">
                  <c:v>30.6</c:v>
                </c:pt>
                <c:pt idx="37">
                  <c:v>31.0</c:v>
                </c:pt>
                <c:pt idx="38">
                  <c:v>31.5</c:v>
                </c:pt>
                <c:pt idx="39">
                  <c:v>32.0</c:v>
                </c:pt>
                <c:pt idx="40">
                  <c:v>32.5</c:v>
                </c:pt>
                <c:pt idx="41">
                  <c:v>33.0</c:v>
                </c:pt>
                <c:pt idx="42">
                  <c:v>33.5</c:v>
                </c:pt>
                <c:pt idx="43">
                  <c:v>34.0</c:v>
                </c:pt>
                <c:pt idx="44">
                  <c:v>34.5</c:v>
                </c:pt>
                <c:pt idx="45">
                  <c:v>35.0</c:v>
                </c:pt>
              </c:numCache>
            </c:numRef>
          </c:xVal>
          <c:yVal>
            <c:numRef>
              <c:f>Sheet1!$B$98:$B$143</c:f>
              <c:numCache>
                <c:formatCode>General</c:formatCode>
                <c:ptCount val="46"/>
                <c:pt idx="0">
                  <c:v>0.77796</c:v>
                </c:pt>
                <c:pt idx="1">
                  <c:v>0.71072</c:v>
                </c:pt>
                <c:pt idx="2">
                  <c:v>0.65105</c:v>
                </c:pt>
                <c:pt idx="3">
                  <c:v>0.59786</c:v>
                </c:pt>
                <c:pt idx="4">
                  <c:v>0.55055</c:v>
                </c:pt>
                <c:pt idx="5">
                  <c:v>0.50797</c:v>
                </c:pt>
                <c:pt idx="6">
                  <c:v>0.46958</c:v>
                </c:pt>
                <c:pt idx="7">
                  <c:v>0.43516</c:v>
                </c:pt>
                <c:pt idx="8">
                  <c:v>0.40414</c:v>
                </c:pt>
                <c:pt idx="9">
                  <c:v>0.37583</c:v>
                </c:pt>
                <c:pt idx="10">
                  <c:v>0.35025</c:v>
                </c:pt>
                <c:pt idx="11">
                  <c:v>0.32689</c:v>
                </c:pt>
                <c:pt idx="12">
                  <c:v>0.30562</c:v>
                </c:pt>
                <c:pt idx="13">
                  <c:v>0.28614</c:v>
                </c:pt>
                <c:pt idx="14">
                  <c:v>0.26829</c:v>
                </c:pt>
                <c:pt idx="15">
                  <c:v>0.25195</c:v>
                </c:pt>
                <c:pt idx="16">
                  <c:v>0.23684</c:v>
                </c:pt>
                <c:pt idx="17">
                  <c:v>0.22297</c:v>
                </c:pt>
                <c:pt idx="18">
                  <c:v>0.21016</c:v>
                </c:pt>
                <c:pt idx="19">
                  <c:v>0.19833</c:v>
                </c:pt>
                <c:pt idx="20">
                  <c:v>0.18741</c:v>
                </c:pt>
                <c:pt idx="21">
                  <c:v>0.17722</c:v>
                </c:pt>
                <c:pt idx="22">
                  <c:v>0.16776</c:v>
                </c:pt>
                <c:pt idx="23">
                  <c:v>0.15897</c:v>
                </c:pt>
                <c:pt idx="24">
                  <c:v>0.15082</c:v>
                </c:pt>
                <c:pt idx="25">
                  <c:v>0.14321</c:v>
                </c:pt>
                <c:pt idx="26">
                  <c:v>0.13608</c:v>
                </c:pt>
                <c:pt idx="27">
                  <c:v>0.12949</c:v>
                </c:pt>
                <c:pt idx="28">
                  <c:v>0.12327</c:v>
                </c:pt>
                <c:pt idx="29">
                  <c:v>0.1175</c:v>
                </c:pt>
                <c:pt idx="30">
                  <c:v>0.112</c:v>
                </c:pt>
                <c:pt idx="31">
                  <c:v>0.10786</c:v>
                </c:pt>
                <c:pt idx="32">
                  <c:v>0.10705</c:v>
                </c:pt>
                <c:pt idx="33">
                  <c:v>0.10694</c:v>
                </c:pt>
                <c:pt idx="34">
                  <c:v>0.65537</c:v>
                </c:pt>
                <c:pt idx="35">
                  <c:v>0.65431</c:v>
                </c:pt>
                <c:pt idx="36">
                  <c:v>0.6501</c:v>
                </c:pt>
                <c:pt idx="37">
                  <c:v>0.62945</c:v>
                </c:pt>
                <c:pt idx="38">
                  <c:v>0.60466</c:v>
                </c:pt>
                <c:pt idx="39">
                  <c:v>0.58099</c:v>
                </c:pt>
                <c:pt idx="40">
                  <c:v>0.55839</c:v>
                </c:pt>
                <c:pt idx="41">
                  <c:v>0.53685</c:v>
                </c:pt>
                <c:pt idx="42">
                  <c:v>0.51631</c:v>
                </c:pt>
                <c:pt idx="43">
                  <c:v>0.49675</c:v>
                </c:pt>
                <c:pt idx="44">
                  <c:v>0.47811</c:v>
                </c:pt>
                <c:pt idx="45">
                  <c:v>0.46036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Sheet1!$B$145</c:f>
              <c:strCache>
                <c:ptCount val="1"/>
                <c:pt idx="0">
                  <c:v>Комптон</c:v>
                </c:pt>
              </c:strCache>
            </c:strRef>
          </c:tx>
          <c:spPr>
            <a:ln w="22225">
              <a:solidFill>
                <a:srgbClr val="E67E22"/>
              </a:solidFill>
            </a:ln>
          </c:spPr>
          <c:marker>
            <c:symbol val="none"/>
          </c:marker>
          <c:xVal>
            <c:numRef>
              <c:f>Sheet1!$A$146:$A$191</c:f>
              <c:numCache>
                <c:formatCode>General</c:formatCode>
                <c:ptCount val="46"/>
                <c:pt idx="0">
                  <c:v>15.0</c:v>
                </c:pt>
                <c:pt idx="1">
                  <c:v>15.5</c:v>
                </c:pt>
                <c:pt idx="2">
                  <c:v>16.0</c:v>
                </c:pt>
                <c:pt idx="3">
                  <c:v>16.5</c:v>
                </c:pt>
                <c:pt idx="4">
                  <c:v>17.0</c:v>
                </c:pt>
                <c:pt idx="5">
                  <c:v>17.5</c:v>
                </c:pt>
                <c:pt idx="6">
                  <c:v>18.0</c:v>
                </c:pt>
                <c:pt idx="7">
                  <c:v>18.5</c:v>
                </c:pt>
                <c:pt idx="8">
                  <c:v>19.0</c:v>
                </c:pt>
                <c:pt idx="9">
                  <c:v>19.5</c:v>
                </c:pt>
                <c:pt idx="10">
                  <c:v>20.0</c:v>
                </c:pt>
                <c:pt idx="11">
                  <c:v>20.5</c:v>
                </c:pt>
                <c:pt idx="12">
                  <c:v>21.0</c:v>
                </c:pt>
                <c:pt idx="13">
                  <c:v>21.5</c:v>
                </c:pt>
                <c:pt idx="14">
                  <c:v>22.0</c:v>
                </c:pt>
                <c:pt idx="15">
                  <c:v>22.5</c:v>
                </c:pt>
                <c:pt idx="16">
                  <c:v>23.0</c:v>
                </c:pt>
                <c:pt idx="17">
                  <c:v>23.5</c:v>
                </c:pt>
                <c:pt idx="18">
                  <c:v>24.0</c:v>
                </c:pt>
                <c:pt idx="19">
                  <c:v>24.5</c:v>
                </c:pt>
                <c:pt idx="20">
                  <c:v>25.0</c:v>
                </c:pt>
                <c:pt idx="21">
                  <c:v>25.5</c:v>
                </c:pt>
                <c:pt idx="22">
                  <c:v>26.0</c:v>
                </c:pt>
                <c:pt idx="23">
                  <c:v>26.5</c:v>
                </c:pt>
                <c:pt idx="24">
                  <c:v>27.0</c:v>
                </c:pt>
                <c:pt idx="25">
                  <c:v>27.5</c:v>
                </c:pt>
                <c:pt idx="26">
                  <c:v>28.0</c:v>
                </c:pt>
                <c:pt idx="27">
                  <c:v>28.5</c:v>
                </c:pt>
                <c:pt idx="28">
                  <c:v>29.0</c:v>
                </c:pt>
                <c:pt idx="29">
                  <c:v>29.5</c:v>
                </c:pt>
                <c:pt idx="30">
                  <c:v>30.0</c:v>
                </c:pt>
                <c:pt idx="31">
                  <c:v>30.4</c:v>
                </c:pt>
                <c:pt idx="32">
                  <c:v>30.48</c:v>
                </c:pt>
                <c:pt idx="33">
                  <c:v>30.49</c:v>
                </c:pt>
                <c:pt idx="34">
                  <c:v>30.5</c:v>
                </c:pt>
                <c:pt idx="35">
                  <c:v>30.52</c:v>
                </c:pt>
                <c:pt idx="36">
                  <c:v>30.6</c:v>
                </c:pt>
                <c:pt idx="37">
                  <c:v>31.0</c:v>
                </c:pt>
                <c:pt idx="38">
                  <c:v>31.5</c:v>
                </c:pt>
                <c:pt idx="39">
                  <c:v>32.0</c:v>
                </c:pt>
                <c:pt idx="40">
                  <c:v>32.5</c:v>
                </c:pt>
                <c:pt idx="41">
                  <c:v>33.0</c:v>
                </c:pt>
                <c:pt idx="42">
                  <c:v>33.5</c:v>
                </c:pt>
                <c:pt idx="43">
                  <c:v>34.0</c:v>
                </c:pt>
                <c:pt idx="44">
                  <c:v>34.5</c:v>
                </c:pt>
                <c:pt idx="45">
                  <c:v>35.0</c:v>
                </c:pt>
              </c:numCache>
            </c:numRef>
          </c:xVal>
          <c:yVal>
            <c:numRef>
              <c:f>Sheet1!$B$146:$B$191</c:f>
              <c:numCache>
                <c:formatCode>General</c:formatCode>
                <c:ptCount val="46"/>
                <c:pt idx="0">
                  <c:v>0.20288</c:v>
                </c:pt>
                <c:pt idx="1">
                  <c:v>0.20437</c:v>
                </c:pt>
                <c:pt idx="2">
                  <c:v>0.2057</c:v>
                </c:pt>
                <c:pt idx="3">
                  <c:v>0.20678</c:v>
                </c:pt>
                <c:pt idx="4">
                  <c:v>0.20779</c:v>
                </c:pt>
                <c:pt idx="5">
                  <c:v>0.20875</c:v>
                </c:pt>
                <c:pt idx="6">
                  <c:v>0.20966</c:v>
                </c:pt>
                <c:pt idx="7">
                  <c:v>0.21055</c:v>
                </c:pt>
                <c:pt idx="8">
                  <c:v>0.21138</c:v>
                </c:pt>
                <c:pt idx="9">
                  <c:v>0.21218</c:v>
                </c:pt>
                <c:pt idx="10">
                  <c:v>0.21292</c:v>
                </c:pt>
                <c:pt idx="11">
                  <c:v>0.21348</c:v>
                </c:pt>
                <c:pt idx="12">
                  <c:v>0.21402</c:v>
                </c:pt>
                <c:pt idx="13">
                  <c:v>0.21454</c:v>
                </c:pt>
                <c:pt idx="14">
                  <c:v>0.21503</c:v>
                </c:pt>
                <c:pt idx="15">
                  <c:v>0.2155</c:v>
                </c:pt>
                <c:pt idx="16">
                  <c:v>0.21595</c:v>
                </c:pt>
                <c:pt idx="17">
                  <c:v>0.21638</c:v>
                </c:pt>
                <c:pt idx="18">
                  <c:v>0.21679</c:v>
                </c:pt>
                <c:pt idx="19">
                  <c:v>0.21719</c:v>
                </c:pt>
                <c:pt idx="20">
                  <c:v>0.21757</c:v>
                </c:pt>
                <c:pt idx="21">
                  <c:v>0.21779</c:v>
                </c:pt>
                <c:pt idx="22">
                  <c:v>0.21796</c:v>
                </c:pt>
                <c:pt idx="23">
                  <c:v>0.21812</c:v>
                </c:pt>
                <c:pt idx="24">
                  <c:v>0.21827</c:v>
                </c:pt>
                <c:pt idx="25">
                  <c:v>0.21842</c:v>
                </c:pt>
                <c:pt idx="26">
                  <c:v>0.21857</c:v>
                </c:pt>
                <c:pt idx="27">
                  <c:v>0.21871</c:v>
                </c:pt>
                <c:pt idx="28">
                  <c:v>0.21884</c:v>
                </c:pt>
                <c:pt idx="29">
                  <c:v>0.21898</c:v>
                </c:pt>
                <c:pt idx="30">
                  <c:v>0.2191</c:v>
                </c:pt>
                <c:pt idx="31">
                  <c:v>0.2192</c:v>
                </c:pt>
                <c:pt idx="32">
                  <c:v>0.21922</c:v>
                </c:pt>
                <c:pt idx="33">
                  <c:v>0.21922</c:v>
                </c:pt>
                <c:pt idx="34">
                  <c:v>0.21922</c:v>
                </c:pt>
                <c:pt idx="35">
                  <c:v>0.21923</c:v>
                </c:pt>
                <c:pt idx="36">
                  <c:v>0.21925</c:v>
                </c:pt>
                <c:pt idx="37">
                  <c:v>0.21934</c:v>
                </c:pt>
                <c:pt idx="38">
                  <c:v>0.21946</c:v>
                </c:pt>
                <c:pt idx="39">
                  <c:v>0.21943</c:v>
                </c:pt>
                <c:pt idx="40">
                  <c:v>0.21936</c:v>
                </c:pt>
                <c:pt idx="41">
                  <c:v>0.21929</c:v>
                </c:pt>
                <c:pt idx="42">
                  <c:v>0.21923</c:v>
                </c:pt>
                <c:pt idx="43">
                  <c:v>0.21916</c:v>
                </c:pt>
                <c:pt idx="44">
                  <c:v>0.2191</c:v>
                </c:pt>
                <c:pt idx="45">
                  <c:v>0.21904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Sheet1!$B$193</c:f>
              <c:strCache>
                <c:ptCount val="1"/>
                <c:pt idx="0">
                  <c:v>Рэлей</c:v>
                </c:pt>
              </c:strCache>
            </c:strRef>
          </c:tx>
          <c:spPr>
            <a:ln w="22225">
              <a:solidFill>
                <a:srgbClr val="2E8B57"/>
              </a:solidFill>
            </a:ln>
          </c:spPr>
          <c:marker>
            <c:symbol val="none"/>
          </c:marker>
          <c:xVal>
            <c:numRef>
              <c:f>Sheet1!$A$194:$A$239</c:f>
              <c:numCache>
                <c:formatCode>General</c:formatCode>
                <c:ptCount val="46"/>
                <c:pt idx="0">
                  <c:v>15.0</c:v>
                </c:pt>
                <c:pt idx="1">
                  <c:v>15.5</c:v>
                </c:pt>
                <c:pt idx="2">
                  <c:v>16.0</c:v>
                </c:pt>
                <c:pt idx="3">
                  <c:v>16.5</c:v>
                </c:pt>
                <c:pt idx="4">
                  <c:v>17.0</c:v>
                </c:pt>
                <c:pt idx="5">
                  <c:v>17.5</c:v>
                </c:pt>
                <c:pt idx="6">
                  <c:v>18.0</c:v>
                </c:pt>
                <c:pt idx="7">
                  <c:v>18.5</c:v>
                </c:pt>
                <c:pt idx="8">
                  <c:v>19.0</c:v>
                </c:pt>
                <c:pt idx="9">
                  <c:v>19.5</c:v>
                </c:pt>
                <c:pt idx="10">
                  <c:v>20.0</c:v>
                </c:pt>
                <c:pt idx="11">
                  <c:v>20.5</c:v>
                </c:pt>
                <c:pt idx="12">
                  <c:v>21.0</c:v>
                </c:pt>
                <c:pt idx="13">
                  <c:v>21.5</c:v>
                </c:pt>
                <c:pt idx="14">
                  <c:v>22.0</c:v>
                </c:pt>
                <c:pt idx="15">
                  <c:v>22.5</c:v>
                </c:pt>
                <c:pt idx="16">
                  <c:v>23.0</c:v>
                </c:pt>
                <c:pt idx="17">
                  <c:v>23.5</c:v>
                </c:pt>
                <c:pt idx="18">
                  <c:v>24.0</c:v>
                </c:pt>
                <c:pt idx="19">
                  <c:v>24.5</c:v>
                </c:pt>
                <c:pt idx="20">
                  <c:v>25.0</c:v>
                </c:pt>
                <c:pt idx="21">
                  <c:v>25.5</c:v>
                </c:pt>
                <c:pt idx="22">
                  <c:v>26.0</c:v>
                </c:pt>
                <c:pt idx="23">
                  <c:v>26.5</c:v>
                </c:pt>
                <c:pt idx="24">
                  <c:v>27.0</c:v>
                </c:pt>
                <c:pt idx="25">
                  <c:v>27.5</c:v>
                </c:pt>
                <c:pt idx="26">
                  <c:v>28.0</c:v>
                </c:pt>
                <c:pt idx="27">
                  <c:v>28.5</c:v>
                </c:pt>
                <c:pt idx="28">
                  <c:v>29.0</c:v>
                </c:pt>
                <c:pt idx="29">
                  <c:v>29.5</c:v>
                </c:pt>
                <c:pt idx="30">
                  <c:v>30.0</c:v>
                </c:pt>
                <c:pt idx="31">
                  <c:v>30.4</c:v>
                </c:pt>
                <c:pt idx="32">
                  <c:v>30.48</c:v>
                </c:pt>
                <c:pt idx="33">
                  <c:v>30.49</c:v>
                </c:pt>
                <c:pt idx="34">
                  <c:v>30.5</c:v>
                </c:pt>
                <c:pt idx="35">
                  <c:v>30.52</c:v>
                </c:pt>
                <c:pt idx="36">
                  <c:v>30.6</c:v>
                </c:pt>
                <c:pt idx="37">
                  <c:v>31.0</c:v>
                </c:pt>
                <c:pt idx="38">
                  <c:v>31.5</c:v>
                </c:pt>
                <c:pt idx="39">
                  <c:v>32.0</c:v>
                </c:pt>
                <c:pt idx="40">
                  <c:v>32.5</c:v>
                </c:pt>
                <c:pt idx="41">
                  <c:v>33.0</c:v>
                </c:pt>
                <c:pt idx="42">
                  <c:v>33.5</c:v>
                </c:pt>
                <c:pt idx="43">
                  <c:v>34.0</c:v>
                </c:pt>
                <c:pt idx="44">
                  <c:v>34.5</c:v>
                </c:pt>
                <c:pt idx="45">
                  <c:v>35.0</c:v>
                </c:pt>
              </c:numCache>
            </c:numRef>
          </c:xVal>
          <c:yVal>
            <c:numRef>
              <c:f>Sheet1!$B$194:$B$239</c:f>
              <c:numCache>
                <c:formatCode>General</c:formatCode>
                <c:ptCount val="46"/>
                <c:pt idx="0">
                  <c:v>0.1571</c:v>
                </c:pt>
                <c:pt idx="1">
                  <c:v>0.15022</c:v>
                </c:pt>
                <c:pt idx="2">
                  <c:v>0.14375</c:v>
                </c:pt>
                <c:pt idx="3">
                  <c:v>0.13768</c:v>
                </c:pt>
                <c:pt idx="4">
                  <c:v>0.13193</c:v>
                </c:pt>
                <c:pt idx="5">
                  <c:v>0.12656</c:v>
                </c:pt>
                <c:pt idx="6">
                  <c:v>0.12146</c:v>
                </c:pt>
                <c:pt idx="7">
                  <c:v>0.11665</c:v>
                </c:pt>
                <c:pt idx="8">
                  <c:v>0.11214</c:v>
                </c:pt>
                <c:pt idx="9">
                  <c:v>0.1078</c:v>
                </c:pt>
                <c:pt idx="10">
                  <c:v>0.10372</c:v>
                </c:pt>
                <c:pt idx="11">
                  <c:v>0.09988</c:v>
                </c:pt>
                <c:pt idx="12">
                  <c:v>0.0962</c:v>
                </c:pt>
                <c:pt idx="13">
                  <c:v>0.0927</c:v>
                </c:pt>
                <c:pt idx="14">
                  <c:v>0.0894</c:v>
                </c:pt>
                <c:pt idx="15">
                  <c:v>0.08627</c:v>
                </c:pt>
                <c:pt idx="16">
                  <c:v>0.08324</c:v>
                </c:pt>
                <c:pt idx="17">
                  <c:v>0.08036</c:v>
                </c:pt>
                <c:pt idx="18">
                  <c:v>0.07765</c:v>
                </c:pt>
                <c:pt idx="19">
                  <c:v>0.07505</c:v>
                </c:pt>
                <c:pt idx="20">
                  <c:v>0.07252</c:v>
                </c:pt>
                <c:pt idx="21">
                  <c:v>0.07011</c:v>
                </c:pt>
                <c:pt idx="22">
                  <c:v>0.06782</c:v>
                </c:pt>
                <c:pt idx="23">
                  <c:v>0.06563</c:v>
                </c:pt>
                <c:pt idx="24">
                  <c:v>0.06348</c:v>
                </c:pt>
                <c:pt idx="25">
                  <c:v>0.06134</c:v>
                </c:pt>
                <c:pt idx="26">
                  <c:v>0.0593</c:v>
                </c:pt>
                <c:pt idx="27">
                  <c:v>0.05735</c:v>
                </c:pt>
                <c:pt idx="28">
                  <c:v>0.0555</c:v>
                </c:pt>
                <c:pt idx="29">
                  <c:v>0.0535</c:v>
                </c:pt>
                <c:pt idx="30">
                  <c:v>0.05127</c:v>
                </c:pt>
                <c:pt idx="31">
                  <c:v>0.04953</c:v>
                </c:pt>
                <c:pt idx="32">
                  <c:v>0.0494</c:v>
                </c:pt>
                <c:pt idx="33">
                  <c:v>0.04939</c:v>
                </c:pt>
                <c:pt idx="34">
                  <c:v>0.04937</c:v>
                </c:pt>
                <c:pt idx="35">
                  <c:v>0.04934</c:v>
                </c:pt>
                <c:pt idx="36">
                  <c:v>0.04921</c:v>
                </c:pt>
                <c:pt idx="37">
                  <c:v>0.04934</c:v>
                </c:pt>
                <c:pt idx="38">
                  <c:v>0.04868</c:v>
                </c:pt>
                <c:pt idx="39">
                  <c:v>0.04792</c:v>
                </c:pt>
                <c:pt idx="40">
                  <c:v>0.04713</c:v>
                </c:pt>
                <c:pt idx="41">
                  <c:v>0.04611</c:v>
                </c:pt>
                <c:pt idx="42">
                  <c:v>0.04513</c:v>
                </c:pt>
                <c:pt idx="43">
                  <c:v>0.04418</c:v>
                </c:pt>
                <c:pt idx="44">
                  <c:v>0.04326</c:v>
                </c:pt>
                <c:pt idx="45">
                  <c:v>0.04237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Sheet1!$B$241</c:f>
              <c:strCache>
                <c:ptCount val="1"/>
                <c:pt idx="0">
                  <c:v>SU-8 без Sb: полное</c:v>
                </c:pt>
              </c:strCache>
            </c:strRef>
          </c:tx>
          <c:spPr>
            <a:ln w="28575">
              <a:solidFill>
                <a:srgbClr val="14325C"/>
              </a:solidFill>
              <a:prstDash val="dash"/>
            </a:ln>
          </c:spPr>
          <c:marker>
            <c:symbol val="none"/>
          </c:marker>
          <c:xVal>
            <c:numRef>
              <c:f>Sheet1!$A$242:$A$287</c:f>
              <c:numCache>
                <c:formatCode>General</c:formatCode>
                <c:ptCount val="46"/>
                <c:pt idx="0">
                  <c:v>15.0</c:v>
                </c:pt>
                <c:pt idx="1">
                  <c:v>15.5</c:v>
                </c:pt>
                <c:pt idx="2">
                  <c:v>16.0</c:v>
                </c:pt>
                <c:pt idx="3">
                  <c:v>16.5</c:v>
                </c:pt>
                <c:pt idx="4">
                  <c:v>17.0</c:v>
                </c:pt>
                <c:pt idx="5">
                  <c:v>17.5</c:v>
                </c:pt>
                <c:pt idx="6">
                  <c:v>18.0</c:v>
                </c:pt>
                <c:pt idx="7">
                  <c:v>18.5</c:v>
                </c:pt>
                <c:pt idx="8">
                  <c:v>19.0</c:v>
                </c:pt>
                <c:pt idx="9">
                  <c:v>19.5</c:v>
                </c:pt>
                <c:pt idx="10">
                  <c:v>20.0</c:v>
                </c:pt>
                <c:pt idx="11">
                  <c:v>20.5</c:v>
                </c:pt>
                <c:pt idx="12">
                  <c:v>21.0</c:v>
                </c:pt>
                <c:pt idx="13">
                  <c:v>21.5</c:v>
                </c:pt>
                <c:pt idx="14">
                  <c:v>22.0</c:v>
                </c:pt>
                <c:pt idx="15">
                  <c:v>22.5</c:v>
                </c:pt>
                <c:pt idx="16">
                  <c:v>23.0</c:v>
                </c:pt>
                <c:pt idx="17">
                  <c:v>23.5</c:v>
                </c:pt>
                <c:pt idx="18">
                  <c:v>24.0</c:v>
                </c:pt>
                <c:pt idx="19">
                  <c:v>24.5</c:v>
                </c:pt>
                <c:pt idx="20">
                  <c:v>25.0</c:v>
                </c:pt>
                <c:pt idx="21">
                  <c:v>25.5</c:v>
                </c:pt>
                <c:pt idx="22">
                  <c:v>26.0</c:v>
                </c:pt>
                <c:pt idx="23">
                  <c:v>26.5</c:v>
                </c:pt>
                <c:pt idx="24">
                  <c:v>27.0</c:v>
                </c:pt>
                <c:pt idx="25">
                  <c:v>27.5</c:v>
                </c:pt>
                <c:pt idx="26">
                  <c:v>28.0</c:v>
                </c:pt>
                <c:pt idx="27">
                  <c:v>28.5</c:v>
                </c:pt>
                <c:pt idx="28">
                  <c:v>29.0</c:v>
                </c:pt>
                <c:pt idx="29">
                  <c:v>29.5</c:v>
                </c:pt>
                <c:pt idx="30">
                  <c:v>30.0</c:v>
                </c:pt>
                <c:pt idx="31">
                  <c:v>30.4</c:v>
                </c:pt>
                <c:pt idx="32">
                  <c:v>30.48</c:v>
                </c:pt>
                <c:pt idx="33">
                  <c:v>30.49</c:v>
                </c:pt>
                <c:pt idx="34">
                  <c:v>30.5</c:v>
                </c:pt>
                <c:pt idx="35">
                  <c:v>30.52</c:v>
                </c:pt>
                <c:pt idx="36">
                  <c:v>30.6</c:v>
                </c:pt>
                <c:pt idx="37">
                  <c:v>31.0</c:v>
                </c:pt>
                <c:pt idx="38">
                  <c:v>31.5</c:v>
                </c:pt>
                <c:pt idx="39">
                  <c:v>32.0</c:v>
                </c:pt>
                <c:pt idx="40">
                  <c:v>32.5</c:v>
                </c:pt>
                <c:pt idx="41">
                  <c:v>33.0</c:v>
                </c:pt>
                <c:pt idx="42">
                  <c:v>33.5</c:v>
                </c:pt>
                <c:pt idx="43">
                  <c:v>34.0</c:v>
                </c:pt>
                <c:pt idx="44">
                  <c:v>34.5</c:v>
                </c:pt>
                <c:pt idx="45">
                  <c:v>35.0</c:v>
                </c:pt>
              </c:numCache>
            </c:numRef>
          </c:xVal>
          <c:yVal>
            <c:numRef>
              <c:f>Sheet1!$B$242:$B$287</c:f>
              <c:numCache>
                <c:formatCode>General</c:formatCode>
                <c:ptCount val="46"/>
                <c:pt idx="0">
                  <c:v>1.28339</c:v>
                </c:pt>
                <c:pt idx="1">
                  <c:v>1.18531</c:v>
                </c:pt>
                <c:pt idx="2">
                  <c:v>1.09917</c:v>
                </c:pt>
                <c:pt idx="3">
                  <c:v>1.02314</c:v>
                </c:pt>
                <c:pt idx="4">
                  <c:v>0.95582</c:v>
                </c:pt>
                <c:pt idx="5">
                  <c:v>0.89605</c:v>
                </c:pt>
                <c:pt idx="6">
                  <c:v>0.84281</c:v>
                </c:pt>
                <c:pt idx="7">
                  <c:v>0.79518</c:v>
                </c:pt>
                <c:pt idx="8">
                  <c:v>0.75248</c:v>
                </c:pt>
                <c:pt idx="9">
                  <c:v>0.71404</c:v>
                </c:pt>
                <c:pt idx="10">
                  <c:v>0.67935</c:v>
                </c:pt>
                <c:pt idx="11">
                  <c:v>0.64784</c:v>
                </c:pt>
                <c:pt idx="12">
                  <c:v>0.61924</c:v>
                </c:pt>
                <c:pt idx="13">
                  <c:v>0.59323</c:v>
                </c:pt>
                <c:pt idx="14">
                  <c:v>0.56953</c:v>
                </c:pt>
                <c:pt idx="15">
                  <c:v>0.54789</c:v>
                </c:pt>
                <c:pt idx="16">
                  <c:v>0.52807</c:v>
                </c:pt>
                <c:pt idx="17">
                  <c:v>0.5099</c:v>
                </c:pt>
                <c:pt idx="18">
                  <c:v>0.49322</c:v>
                </c:pt>
                <c:pt idx="19">
                  <c:v>0.47784</c:v>
                </c:pt>
                <c:pt idx="20">
                  <c:v>0.46367</c:v>
                </c:pt>
                <c:pt idx="21">
                  <c:v>0.45044</c:v>
                </c:pt>
                <c:pt idx="22">
                  <c:v>0.43816</c:v>
                </c:pt>
                <c:pt idx="23">
                  <c:v>0.42676</c:v>
                </c:pt>
                <c:pt idx="24">
                  <c:v>0.41619</c:v>
                </c:pt>
                <c:pt idx="25">
                  <c:v>0.40636</c:v>
                </c:pt>
                <c:pt idx="26">
                  <c:v>0.39721</c:v>
                </c:pt>
                <c:pt idx="27">
                  <c:v>0.38868</c:v>
                </c:pt>
                <c:pt idx="28">
                  <c:v>0.38072</c:v>
                </c:pt>
                <c:pt idx="29">
                  <c:v>0.37329</c:v>
                </c:pt>
                <c:pt idx="30">
                  <c:v>0.36634</c:v>
                </c:pt>
                <c:pt idx="31">
                  <c:v>0.3611</c:v>
                </c:pt>
                <c:pt idx="32">
                  <c:v>0.36008</c:v>
                </c:pt>
                <c:pt idx="33">
                  <c:v>0.35995</c:v>
                </c:pt>
                <c:pt idx="34">
                  <c:v>0.35983</c:v>
                </c:pt>
                <c:pt idx="35">
                  <c:v>0.35958</c:v>
                </c:pt>
                <c:pt idx="36">
                  <c:v>0.35858</c:v>
                </c:pt>
                <c:pt idx="37">
                  <c:v>0.35373</c:v>
                </c:pt>
                <c:pt idx="38">
                  <c:v>0.348</c:v>
                </c:pt>
                <c:pt idx="39">
                  <c:v>0.34249</c:v>
                </c:pt>
                <c:pt idx="40">
                  <c:v>0.33725</c:v>
                </c:pt>
                <c:pt idx="41">
                  <c:v>0.33231</c:v>
                </c:pt>
                <c:pt idx="42">
                  <c:v>0.32766</c:v>
                </c:pt>
                <c:pt idx="43">
                  <c:v>0.32328</c:v>
                </c:pt>
                <c:pt idx="44">
                  <c:v>0.31913</c:v>
                </c:pt>
                <c:pt idx="45">
                  <c:v>0.31521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5.0"/>
          <c:min val="15.0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latin typeface="Arial"/>
                  </a:rPr>
                  <a:t>энергия, кэВ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1.6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  <c:majorUnit val="0.2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latin typeface="Arial"/>
              </a:rPr>
              <a:t>Прошли без взаимодействий, %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Об. 1: SU-8</c:v>
                </c:pt>
              </c:strCache>
            </c:strRef>
          </c:tx>
          <c:spPr>
            <a:ln w="25400">
              <a:solidFill>
                <a:srgbClr val="14325C"/>
              </a:solidFill>
            </a:ln>
          </c:spPr>
          <c:marker>
            <c:symbol val="circle"/>
            <c:size val="6"/>
            <c:spPr>
              <a:solidFill>
                <a:srgbClr val="14325C"/>
              </a:solidFill>
              <a:ln>
                <a:solidFill>
                  <a:srgbClr val="14325C"/>
                </a:solidFill>
              </a:ln>
            </c:spPr>
          </c:marker>
          <c:xVal>
            <c:numRef>
              <c:f>Sheet1!$A$2:$A$17</c:f>
              <c:numCache>
                <c:formatCode>General</c:formatCode>
                <c:ptCount val="16"/>
                <c:pt idx="0">
                  <c:v>25.0</c:v>
                </c:pt>
                <c:pt idx="1">
                  <c:v>28.0</c:v>
                </c:pt>
                <c:pt idx="2">
                  <c:v>29.0</c:v>
                </c:pt>
                <c:pt idx="3">
                  <c:v>30.0</c:v>
                </c:pt>
                <c:pt idx="4">
                  <c:v>30.3</c:v>
                </c:pt>
                <c:pt idx="5">
                  <c:v>30.4</c:v>
                </c:pt>
                <c:pt idx="6">
                  <c:v>30.45</c:v>
                </c:pt>
                <c:pt idx="7">
                  <c:v>30.48</c:v>
                </c:pt>
                <c:pt idx="8">
                  <c:v>30.5</c:v>
                </c:pt>
                <c:pt idx="9">
                  <c:v>30.52</c:v>
                </c:pt>
                <c:pt idx="10">
                  <c:v>30.55</c:v>
                </c:pt>
                <c:pt idx="11">
                  <c:v>30.6</c:v>
                </c:pt>
                <c:pt idx="12">
                  <c:v>31.0</c:v>
                </c:pt>
                <c:pt idx="13">
                  <c:v>32.0</c:v>
                </c:pt>
                <c:pt idx="14">
                  <c:v>33.0</c:v>
                </c:pt>
                <c:pt idx="15">
                  <c:v>35.0</c:v>
                </c:pt>
              </c:numCache>
            </c:numRef>
          </c:xVal>
          <c:yVal>
            <c:numRef>
              <c:f>Sheet1!$B$2:$B$17</c:f>
              <c:numCache>
                <c:formatCode>General</c:formatCode>
                <c:ptCount val="16"/>
                <c:pt idx="0">
                  <c:v>34.52</c:v>
                </c:pt>
                <c:pt idx="1">
                  <c:v>39.44</c:v>
                </c:pt>
                <c:pt idx="2">
                  <c:v>40.79</c:v>
                </c:pt>
                <c:pt idx="3">
                  <c:v>42.13</c:v>
                </c:pt>
                <c:pt idx="4">
                  <c:v>42.05</c:v>
                </c:pt>
                <c:pt idx="5">
                  <c:v>42.29</c:v>
                </c:pt>
                <c:pt idx="6">
                  <c:v>42.85</c:v>
                </c:pt>
                <c:pt idx="7">
                  <c:v>42.39</c:v>
                </c:pt>
                <c:pt idx="8">
                  <c:v>20.45</c:v>
                </c:pt>
                <c:pt idx="9">
                  <c:v>20.3</c:v>
                </c:pt>
                <c:pt idx="10">
                  <c:v>20.42</c:v>
                </c:pt>
                <c:pt idx="11">
                  <c:v>20.43</c:v>
                </c:pt>
                <c:pt idx="12">
                  <c:v>20.94</c:v>
                </c:pt>
                <c:pt idx="13">
                  <c:v>22.09</c:v>
                </c:pt>
                <c:pt idx="14">
                  <c:v>23.37</c:v>
                </c:pt>
                <c:pt idx="15">
                  <c:v>25.71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Sheet1!$B$19</c:f>
              <c:strCache>
                <c:ptCount val="1"/>
                <c:pt idx="0">
                  <c:v>Об. 1: без Sb</c:v>
                </c:pt>
              </c:strCache>
            </c:strRef>
          </c:tx>
          <c:spPr>
            <a:ln w="25400">
              <a:solidFill>
                <a:srgbClr val="14325C"/>
              </a:solidFill>
              <a:prstDash val="dash"/>
            </a:ln>
          </c:spPr>
          <c:marker>
            <c:symbol val="square"/>
            <c:size val="6"/>
            <c:spPr>
              <a:solidFill>
                <a:srgbClr val="14325C"/>
              </a:solidFill>
              <a:ln>
                <a:solidFill>
                  <a:srgbClr val="14325C"/>
                </a:solidFill>
              </a:ln>
            </c:spPr>
          </c:marker>
          <c:xVal>
            <c:numRef>
              <c:f>Sheet1!$A$20:$A$35</c:f>
              <c:numCache>
                <c:formatCode>General</c:formatCode>
                <c:ptCount val="16"/>
                <c:pt idx="0">
                  <c:v>25.0</c:v>
                </c:pt>
                <c:pt idx="1">
                  <c:v>28.0</c:v>
                </c:pt>
                <c:pt idx="2">
                  <c:v>29.0</c:v>
                </c:pt>
                <c:pt idx="3">
                  <c:v>30.0</c:v>
                </c:pt>
                <c:pt idx="4">
                  <c:v>30.3</c:v>
                </c:pt>
                <c:pt idx="5">
                  <c:v>30.4</c:v>
                </c:pt>
                <c:pt idx="6">
                  <c:v>30.45</c:v>
                </c:pt>
                <c:pt idx="7">
                  <c:v>30.48</c:v>
                </c:pt>
                <c:pt idx="8">
                  <c:v>30.5</c:v>
                </c:pt>
                <c:pt idx="9">
                  <c:v>30.52</c:v>
                </c:pt>
                <c:pt idx="10">
                  <c:v>30.55</c:v>
                </c:pt>
                <c:pt idx="11">
                  <c:v>30.6</c:v>
                </c:pt>
                <c:pt idx="12">
                  <c:v>31.0</c:v>
                </c:pt>
                <c:pt idx="13">
                  <c:v>32.0</c:v>
                </c:pt>
                <c:pt idx="14">
                  <c:v>33.0</c:v>
                </c:pt>
                <c:pt idx="15">
                  <c:v>35.0</c:v>
                </c:pt>
              </c:numCache>
            </c:numRef>
          </c:xVal>
          <c:yVal>
            <c:numRef>
              <c:f>Sheet1!$B$20:$B$35</c:f>
              <c:numCache>
                <c:formatCode>General</c:formatCode>
                <c:ptCount val="16"/>
                <c:pt idx="0">
                  <c:v>45.76</c:v>
                </c:pt>
                <c:pt idx="1">
                  <c:v>48.84</c:v>
                </c:pt>
                <c:pt idx="2">
                  <c:v>49.72</c:v>
                </c:pt>
                <c:pt idx="3">
                  <c:v>50.28</c:v>
                </c:pt>
                <c:pt idx="4">
                  <c:v>50.64</c:v>
                </c:pt>
                <c:pt idx="5">
                  <c:v>50.79</c:v>
                </c:pt>
                <c:pt idx="6">
                  <c:v>50.65</c:v>
                </c:pt>
                <c:pt idx="7">
                  <c:v>51.1</c:v>
                </c:pt>
                <c:pt idx="8">
                  <c:v>50.91</c:v>
                </c:pt>
                <c:pt idx="9">
                  <c:v>50.54</c:v>
                </c:pt>
                <c:pt idx="10">
                  <c:v>50.68</c:v>
                </c:pt>
                <c:pt idx="11">
                  <c:v>50.76</c:v>
                </c:pt>
                <c:pt idx="12">
                  <c:v>51.17</c:v>
                </c:pt>
                <c:pt idx="13">
                  <c:v>52.04</c:v>
                </c:pt>
                <c:pt idx="14">
                  <c:v>52.4</c:v>
                </c:pt>
                <c:pt idx="15">
                  <c:v>53.33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Sheet1!$B$37</c:f>
              <c:strCache>
                <c:ptCount val="1"/>
                <c:pt idx="0">
                  <c:v>Конд. 2: SU-8</c:v>
                </c:pt>
              </c:strCache>
            </c:strRef>
          </c:tx>
          <c:spPr>
            <a:ln w="25400">
              <a:solidFill>
                <a:srgbClr val="2E8B57"/>
              </a:solidFill>
            </a:ln>
          </c:spPr>
          <c:marker>
            <c:symbol val="circle"/>
            <c:size val="6"/>
            <c:spPr>
              <a:solidFill>
                <a:srgbClr val="2E8B57"/>
              </a:solidFill>
              <a:ln>
                <a:solidFill>
                  <a:srgbClr val="2E8B57"/>
                </a:solidFill>
              </a:ln>
            </c:spPr>
          </c:marker>
          <c:xVal>
            <c:numRef>
              <c:f>Sheet1!$A$38:$A$53</c:f>
              <c:numCache>
                <c:formatCode>General</c:formatCode>
                <c:ptCount val="16"/>
                <c:pt idx="0">
                  <c:v>25.0</c:v>
                </c:pt>
                <c:pt idx="1">
                  <c:v>28.0</c:v>
                </c:pt>
                <c:pt idx="2">
                  <c:v>29.0</c:v>
                </c:pt>
                <c:pt idx="3">
                  <c:v>30.0</c:v>
                </c:pt>
                <c:pt idx="4">
                  <c:v>30.3</c:v>
                </c:pt>
                <c:pt idx="5">
                  <c:v>30.4</c:v>
                </c:pt>
                <c:pt idx="6">
                  <c:v>30.45</c:v>
                </c:pt>
                <c:pt idx="7">
                  <c:v>30.48</c:v>
                </c:pt>
                <c:pt idx="8">
                  <c:v>30.5</c:v>
                </c:pt>
                <c:pt idx="9">
                  <c:v>30.52</c:v>
                </c:pt>
                <c:pt idx="10">
                  <c:v>30.55</c:v>
                </c:pt>
                <c:pt idx="11">
                  <c:v>30.6</c:v>
                </c:pt>
                <c:pt idx="12">
                  <c:v>31.0</c:v>
                </c:pt>
                <c:pt idx="13">
                  <c:v>32.0</c:v>
                </c:pt>
                <c:pt idx="14">
                  <c:v>33.0</c:v>
                </c:pt>
                <c:pt idx="15">
                  <c:v>35.0</c:v>
                </c:pt>
              </c:numCache>
            </c:numRef>
          </c:xVal>
          <c:yVal>
            <c:numRef>
              <c:f>Sheet1!$B$38:$B$53</c:f>
              <c:numCache>
                <c:formatCode>General</c:formatCode>
                <c:ptCount val="16"/>
                <c:pt idx="0">
                  <c:v>23.39</c:v>
                </c:pt>
                <c:pt idx="1">
                  <c:v>28.24</c:v>
                </c:pt>
                <c:pt idx="2">
                  <c:v>29.9</c:v>
                </c:pt>
                <c:pt idx="3">
                  <c:v>31.39</c:v>
                </c:pt>
                <c:pt idx="4">
                  <c:v>31.73</c:v>
                </c:pt>
                <c:pt idx="5">
                  <c:v>31.48</c:v>
                </c:pt>
                <c:pt idx="6">
                  <c:v>31.71</c:v>
                </c:pt>
                <c:pt idx="7">
                  <c:v>31.65</c:v>
                </c:pt>
                <c:pt idx="8">
                  <c:v>15.15</c:v>
                </c:pt>
                <c:pt idx="9">
                  <c:v>15.27</c:v>
                </c:pt>
                <c:pt idx="10">
                  <c:v>15.27</c:v>
                </c:pt>
                <c:pt idx="11">
                  <c:v>15.42</c:v>
                </c:pt>
                <c:pt idx="12">
                  <c:v>15.87</c:v>
                </c:pt>
                <c:pt idx="13">
                  <c:v>16.66</c:v>
                </c:pt>
                <c:pt idx="14">
                  <c:v>17.8</c:v>
                </c:pt>
                <c:pt idx="15">
                  <c:v>19.97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Sheet1!$B$55</c:f>
              <c:strCache>
                <c:ptCount val="1"/>
                <c:pt idx="0">
                  <c:v>Конд. 2: без Sb</c:v>
                </c:pt>
              </c:strCache>
            </c:strRef>
          </c:tx>
          <c:spPr>
            <a:ln w="25400">
              <a:solidFill>
                <a:srgbClr val="2E8B57"/>
              </a:solidFill>
              <a:prstDash val="dash"/>
            </a:ln>
          </c:spPr>
          <c:marker>
            <c:symbol val="square"/>
            <c:size val="6"/>
            <c:spPr>
              <a:solidFill>
                <a:srgbClr val="2E8B57"/>
              </a:solidFill>
              <a:ln>
                <a:solidFill>
                  <a:srgbClr val="2E8B57"/>
                </a:solidFill>
              </a:ln>
            </c:spPr>
          </c:marker>
          <c:xVal>
            <c:numRef>
              <c:f>Sheet1!$A$56:$A$71</c:f>
              <c:numCache>
                <c:formatCode>General</c:formatCode>
                <c:ptCount val="16"/>
                <c:pt idx="0">
                  <c:v>25.0</c:v>
                </c:pt>
                <c:pt idx="1">
                  <c:v>28.0</c:v>
                </c:pt>
                <c:pt idx="2">
                  <c:v>29.0</c:v>
                </c:pt>
                <c:pt idx="3">
                  <c:v>30.0</c:v>
                </c:pt>
                <c:pt idx="4">
                  <c:v>30.3</c:v>
                </c:pt>
                <c:pt idx="5">
                  <c:v>30.4</c:v>
                </c:pt>
                <c:pt idx="6">
                  <c:v>30.45</c:v>
                </c:pt>
                <c:pt idx="7">
                  <c:v>30.48</c:v>
                </c:pt>
                <c:pt idx="8">
                  <c:v>30.5</c:v>
                </c:pt>
                <c:pt idx="9">
                  <c:v>30.52</c:v>
                </c:pt>
                <c:pt idx="10">
                  <c:v>30.55</c:v>
                </c:pt>
                <c:pt idx="11">
                  <c:v>30.6</c:v>
                </c:pt>
                <c:pt idx="12">
                  <c:v>31.0</c:v>
                </c:pt>
                <c:pt idx="13">
                  <c:v>32.0</c:v>
                </c:pt>
                <c:pt idx="14">
                  <c:v>33.0</c:v>
                </c:pt>
                <c:pt idx="15">
                  <c:v>35.0</c:v>
                </c:pt>
              </c:numCache>
            </c:numRef>
          </c:xVal>
          <c:yVal>
            <c:numRef>
              <c:f>Sheet1!$B$56:$B$71</c:f>
              <c:numCache>
                <c:formatCode>General</c:formatCode>
                <c:ptCount val="16"/>
                <c:pt idx="0">
                  <c:v>32.07</c:v>
                </c:pt>
                <c:pt idx="1">
                  <c:v>36.68</c:v>
                </c:pt>
                <c:pt idx="2">
                  <c:v>37.87</c:v>
                </c:pt>
                <c:pt idx="3">
                  <c:v>38.94</c:v>
                </c:pt>
                <c:pt idx="4">
                  <c:v>38.88</c:v>
                </c:pt>
                <c:pt idx="5">
                  <c:v>38.91</c:v>
                </c:pt>
                <c:pt idx="6">
                  <c:v>38.99</c:v>
                </c:pt>
                <c:pt idx="7">
                  <c:v>39.32</c:v>
                </c:pt>
                <c:pt idx="8">
                  <c:v>39.01</c:v>
                </c:pt>
                <c:pt idx="9">
                  <c:v>39.53</c:v>
                </c:pt>
                <c:pt idx="10">
                  <c:v>39.45</c:v>
                </c:pt>
                <c:pt idx="11">
                  <c:v>39.15</c:v>
                </c:pt>
                <c:pt idx="12">
                  <c:v>39.8</c:v>
                </c:pt>
                <c:pt idx="13">
                  <c:v>40.45</c:v>
                </c:pt>
                <c:pt idx="14">
                  <c:v>41.58</c:v>
                </c:pt>
                <c:pt idx="15">
                  <c:v>43.09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5.0"/>
          <c:min val="25.0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latin typeface="Arial"/>
                  </a:rPr>
                  <a:t>энергия, кэВ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  <c:majorUnit val="10.0"/>
      </c:valAx>
    </c:plotArea>
    <c:legend>
      <c:legendPos val="b"/>
      <c:layout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Relationship Id="rId6" Type="http://schemas.openxmlformats.org/officeDocument/2006/relationships/chart" Target="../charts/chart3.xml"/><Relationship Id="rId7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Шапка"/>
          <p:cNvSpPr/>
          <p:nvPr/>
        </p:nvSpPr>
        <p:spPr>
          <a:xfrm>
            <a:off x="0" y="0"/>
            <a:ext cx="21384000" cy="2664288"/>
          </a:xfrm>
          <a:prstGeom prst="rect">
            <a:avLst/>
          </a:prstGeom>
          <a:solidFill>
            <a:srgbClr val="14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Название"/>
          <p:cNvSpPr txBox="1"/>
          <p:nvPr/>
        </p:nvSpPr>
        <p:spPr>
          <a:xfrm>
            <a:off x="427680" y="151380"/>
            <a:ext cx="20528640" cy="14532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Моделирование прохождения жёсткого рентгеновского излучения</a:t>
            </a:r>
          </a:p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через преломляющие линзы SU-8 микроскопа МИР 15–35 кэВ в Geant4</a:t>
            </a:r>
          </a:p>
        </p:txBody>
      </p:sp>
      <p:sp>
        <p:nvSpPr>
          <p:cNvPr id="4" name="Авторы"/>
          <p:cNvSpPr txBox="1"/>
          <p:nvPr/>
        </p:nvSpPr>
        <p:spPr>
          <a:xfrm>
            <a:off x="427680" y="1634904"/>
            <a:ext cx="20528640" cy="54496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А. А. Неустроева¹, Е. Ф. Резникова¹, В. П. Назьмов¹ ² ³</a:t>
            </a:r>
          </a:p>
        </p:txBody>
      </p:sp>
      <p:sp>
        <p:nvSpPr>
          <p:cNvPr id="5" name="Организации"/>
          <p:cNvSpPr txBox="1"/>
          <p:nvPr/>
        </p:nvSpPr>
        <p:spPr>
          <a:xfrm>
            <a:off x="427680" y="2179871"/>
            <a:ext cx="20528640" cy="42386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DFE8F3"/>
                </a:solidFill>
                <a:latin typeface="Arial"/>
              </a:rPr>
              <a:t>¹ ИЯФ им. Г. И. Будкера СО РАН   ² ЦКП «СКИФ», ИК СО РАН   ³ ИХТТМ СО РАН,  Новосибирск</a:t>
            </a:r>
          </a:p>
        </p:txBody>
      </p:sp>
      <p:sp>
        <p:nvSpPr>
          <p:cNvPr id="6" name="Панель: Задача и модель"/>
          <p:cNvSpPr/>
          <p:nvPr/>
        </p:nvSpPr>
        <p:spPr>
          <a:xfrm>
            <a:off x="320760" y="2967047"/>
            <a:ext cx="6415200" cy="79323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1750">
            <a:solidFill>
              <a:srgbClr val="143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Заголовок: Задача и модель"/>
          <p:cNvSpPr/>
          <p:nvPr/>
        </p:nvSpPr>
        <p:spPr>
          <a:xfrm>
            <a:off x="320760" y="2967047"/>
            <a:ext cx="6415200" cy="635796"/>
          </a:xfrm>
          <a:prstGeom prst="roundRect">
            <a:avLst>
              <a:gd name="adj" fmla="val 2000"/>
            </a:avLst>
          </a:prstGeom>
          <a:solidFill>
            <a:srgbClr val="14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Задача и модель</a:t>
            </a:r>
          </a:p>
        </p:txBody>
      </p:sp>
      <p:sp>
        <p:nvSpPr>
          <p:cNvPr id="8" name="Текст: задача"/>
          <p:cNvSpPr txBox="1"/>
          <p:nvPr/>
        </p:nvSpPr>
        <p:spPr>
          <a:xfrm>
            <a:off x="491832" y="3754223"/>
            <a:ext cx="6073055" cy="2119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A1A1A"/>
                </a:solidFill>
                <a:latin typeface="Arial"/>
              </a:rPr>
              <a:t>Объективы и конденсоры МИР — длинные составные преломляющие линзы из сотен линейных параболических элементов SU-8, скрещённых по x и y. Цель — модель в Geant4, где преломление на каждой поверхности считается точно, а в том же материале работают фотоэффект, комптоновское и рэлеевское рассеяние.</a:t>
            </a:r>
          </a:p>
        </p:txBody>
      </p:sp>
      <p:pic>
        <p:nvPicPr>
          <p:cNvPr id="9" name="Picture 8" descr="lens_elements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00" y="5964372"/>
            <a:ext cx="5987519" cy="2058768"/>
          </a:xfrm>
          <a:prstGeom prst="rect">
            <a:avLst/>
          </a:prstGeom>
        </p:spPr>
      </p:pic>
      <p:sp>
        <p:nvSpPr>
          <p:cNvPr id="10" name="Текст: модель"/>
          <p:cNvSpPr txBox="1"/>
          <p:nvPr/>
        </p:nvSpPr>
        <p:spPr>
          <a:xfrm>
            <a:off x="491832" y="8174519"/>
            <a:ext cx="6073055" cy="25734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1A1A1A"/>
                </a:solidFill>
                <a:latin typeface="Arial"/>
              </a:rPr>
              <a:t>• элементы X, Y, X, Y … (схема, масштаб условный)</a:t>
            </a:r>
          </a:p>
          <a:p>
            <a:pPr algn="l">
              <a:lnSpc>
                <a:spcPct val="115000"/>
              </a:lnSpc>
            </a:pPr>
            <a:r>
              <a:rPr sz="1550" b="0">
                <a:solidFill>
                  <a:srgbClr val="1A1A1A"/>
                </a:solidFill>
                <a:latin typeface="Arial"/>
              </a:rPr>
              <a:t>• профиль z = ±(d/2 + x²/2R), апертура 2√(R(p − d))</a:t>
            </a:r>
          </a:p>
          <a:p>
            <a:pPr algn="l">
              <a:lnSpc>
                <a:spcPct val="115000"/>
              </a:lnSpc>
            </a:pPr>
            <a:r>
              <a:rPr sz="1550" b="0">
                <a:solidFill>
                  <a:srgbClr val="1A1A1A"/>
                </a:solidFill>
                <a:latin typeface="Arial"/>
              </a:rPr>
              <a:t>• своё тело G4VSolid: точные пересечения луч–парабола</a:t>
            </a:r>
          </a:p>
          <a:p>
            <a:pPr algn="l">
              <a:lnSpc>
                <a:spcPct val="115000"/>
              </a:lnSpc>
            </a:pPr>
            <a:r>
              <a:rPr sz="1550" b="0">
                <a:solidFill>
                  <a:srgbClr val="1A1A1A"/>
                </a:solidFill>
                <a:latin typeface="Arial"/>
              </a:rPr>
              <a:t>• процесс преломления γ: векторный закон Снеллиуса в устойчивой форме (δ ~ 10⁻⁷ без потери точности)</a:t>
            </a:r>
          </a:p>
          <a:p>
            <a:pPr algn="l">
              <a:lnSpc>
                <a:spcPct val="115000"/>
              </a:lnSpc>
            </a:pPr>
            <a:r>
              <a:rPr sz="1550" b="0">
                <a:solidFill>
                  <a:srgbClr val="1A1A1A"/>
                </a:solidFill>
                <a:latin typeface="Arial"/>
              </a:rPr>
              <a:t>• SU-8: 1,24 г/см³, C/O/H/Sb/F/S (Sb 1,33 %), δ(25 кэВ) = 4,32·10⁻⁷; физика Geant4 Livermore + флуоресценция</a:t>
            </a:r>
          </a:p>
        </p:txBody>
      </p:sp>
      <p:sp>
        <p:nvSpPr>
          <p:cNvPr id="11" name="Панель: Пучок через массив: моделирование Geant4"/>
          <p:cNvSpPr/>
          <p:nvPr/>
        </p:nvSpPr>
        <p:spPr>
          <a:xfrm>
            <a:off x="7056720" y="2967047"/>
            <a:ext cx="14006520" cy="7932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43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Заголовок: Пучок через массив: моделирование Geant4"/>
          <p:cNvSpPr/>
          <p:nvPr/>
        </p:nvSpPr>
        <p:spPr>
          <a:xfrm>
            <a:off x="7056720" y="2967047"/>
            <a:ext cx="14006520" cy="635796"/>
          </a:xfrm>
          <a:prstGeom prst="roundRect">
            <a:avLst>
              <a:gd name="adj" fmla="val 8000"/>
            </a:avLst>
          </a:prstGeom>
          <a:solidFill>
            <a:srgbClr val="14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Пучок через массив: моделирование Geant4</a:t>
            </a:r>
          </a:p>
        </p:txBody>
      </p:sp>
      <p:pic>
        <p:nvPicPr>
          <p:cNvPr id="13" name="Picture 12" descr="beam_objectiv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792" y="3754223"/>
            <a:ext cx="13664376" cy="6902928"/>
          </a:xfrm>
          <a:prstGeom prst="rect">
            <a:avLst/>
          </a:prstGeom>
        </p:spPr>
      </p:pic>
      <p:sp>
        <p:nvSpPr>
          <p:cNvPr id="14" name="Панель: Этап 1: расчёт = моделирование"/>
          <p:cNvSpPr/>
          <p:nvPr/>
        </p:nvSpPr>
        <p:spPr>
          <a:xfrm>
            <a:off x="320760" y="11141567"/>
            <a:ext cx="6415200" cy="9082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1750">
            <a:solidFill>
              <a:srgbClr val="143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Заголовок: Этап 1: расчёт = моделирование"/>
          <p:cNvSpPr/>
          <p:nvPr/>
        </p:nvSpPr>
        <p:spPr>
          <a:xfrm>
            <a:off x="320760" y="11141568"/>
            <a:ext cx="6415200" cy="635796"/>
          </a:xfrm>
          <a:prstGeom prst="roundRect">
            <a:avLst>
              <a:gd name="adj" fmla="val 2000"/>
            </a:avLst>
          </a:prstGeom>
          <a:solidFill>
            <a:srgbClr val="14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Этап 1: расчёт = моделирование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832" y="11928744"/>
            <a:ext cx="6073055" cy="36331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1A"/>
                </a:solidFill>
                <a:latin typeface="Arial"/>
              </a:rPr>
              <a:t>Фокусное расстояние одного элемента, 25 кэВ</a:t>
            </a:r>
          </a:p>
        </p:txBody>
      </p:sp>
      <p:graphicFrame>
        <p:nvGraphicFramePr>
          <p:cNvPr id="17" name="Таблица: один элемент"/>
          <p:cNvGraphicFramePr>
            <a:graphicFrameLocks noGrp="1"/>
          </p:cNvGraphicFramePr>
          <p:nvPr/>
        </p:nvGraphicFramePr>
        <p:xfrm>
          <a:off x="491832" y="12352608"/>
          <a:ext cx="6073055" cy="242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978"/>
                <a:gridCol w="1363339"/>
                <a:gridCol w="1363339"/>
                <a:gridCol w="1239399"/>
              </a:tblGrid>
              <a:tr h="4844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Один элемент</a:t>
                      </a:r>
                    </a:p>
                  </a:txBody>
                  <a:tcPr marL="36000" marR="36000" marT="21600" marB="21600"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R/(2δ), м</a:t>
                      </a:r>
                    </a:p>
                  </a:txBody>
                  <a:tcPr marL="36000" marR="36000" marT="21600" marB="21600"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Geant4, м</a:t>
                      </a:r>
                    </a:p>
                  </a:txBody>
                  <a:tcPr marL="36000" marR="36000" marT="21600" marB="21600"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отклон.</a:t>
                      </a:r>
                    </a:p>
                  </a:txBody>
                  <a:tcPr marL="36000" marR="36000" marT="21600" marB="21600" anchor="ctr">
                    <a:solidFill>
                      <a:srgbClr val="14325C"/>
                    </a:solidFill>
                  </a:tcPr>
                </a:tc>
              </a:tr>
              <a:tr h="48441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Объектив 1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10,4167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10,4167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2e-07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</a:tr>
              <a:tr h="48441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Объектив 2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6,9444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6,9444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4e-07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</a:tr>
              <a:tr h="48441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Конденсор 1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103,0093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103,0093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2e-08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</a:tr>
              <a:tr h="48441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Конденсор 2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69,4444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69,4444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Arial"/>
                        </a:rPr>
                        <a:t>4e-08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91832" y="15138000"/>
            <a:ext cx="6073055" cy="6660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A1A1A"/>
                </a:solidFill>
                <a:latin typeface="Arial"/>
              </a:rPr>
              <a:t>Массивы, 25 кэВ: трассировка Geant4 и матричная модель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Arial"/>
              </a:rPr>
              <a:t>(фокус — от выходного торца)</a:t>
            </a:r>
          </a:p>
        </p:txBody>
      </p:sp>
      <p:graphicFrame>
        <p:nvGraphicFramePr>
          <p:cNvPr id="19" name="Таблица: массивы"/>
          <p:cNvGraphicFramePr>
            <a:graphicFrameLocks noGrp="1"/>
          </p:cNvGraphicFramePr>
          <p:nvPr/>
        </p:nvGraphicFramePr>
        <p:xfrm>
          <a:off x="491832" y="15955452"/>
          <a:ext cx="6073053" cy="272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916"/>
                <a:gridCol w="1153880"/>
                <a:gridCol w="1153880"/>
                <a:gridCol w="1093150"/>
                <a:gridCol w="850227"/>
              </a:tblGrid>
              <a:tr h="4541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Массив</a:t>
                      </a:r>
                    </a:p>
                  </a:txBody>
                  <a:tcPr marL="36000" marR="36000" marT="21600" marB="21600"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EFL G4, мм</a:t>
                      </a:r>
                    </a:p>
                  </a:txBody>
                  <a:tcPr marL="36000" marR="36000" marT="21600" marB="21600"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EFL матр.</a:t>
                      </a:r>
                    </a:p>
                  </a:txBody>
                  <a:tcPr marL="36000" marR="36000" marT="21600" marB="21600"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фокус, мм</a:t>
                      </a:r>
                    </a:p>
                  </a:txBody>
                  <a:tcPr marL="36000" marR="36000" marT="21600" marB="21600"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расх.</a:t>
                      </a:r>
                    </a:p>
                  </a:txBody>
                  <a:tcPr marL="36000" marR="36000" marT="21600" marB="21600" anchor="ctr">
                    <a:solidFill>
                      <a:srgbClr val="14325C"/>
                    </a:solidFill>
                  </a:tcPr>
                </a:tc>
              </a:tr>
              <a:tr h="4541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Объектив 1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83,304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83,304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38,08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1e-11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</a:tr>
              <a:tr h="4541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Объектив 2, N=180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52,780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52,780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12,61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8e-12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</a:tr>
              <a:tr h="4541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Объектив 2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51,163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51,163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-0,75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6e-12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</a:tr>
              <a:tr h="4541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Конденсор 1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4921,521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4921,521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4871,32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1e-10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</a:tr>
              <a:tr h="4541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Конденсор 2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2256,377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2256,377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2206,92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2e-10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Текст: этап 1"/>
          <p:cNvSpPr txBox="1"/>
          <p:nvPr/>
        </p:nvSpPr>
        <p:spPr>
          <a:xfrm>
            <a:off x="491832" y="18831671"/>
            <a:ext cx="6073055" cy="127159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A1A1A"/>
                </a:solidFill>
                <a:latin typeface="Arial"/>
              </a:rPr>
              <a:t>• 16/16 автоматических проверок PASS; закон Снеллиуса: ошибка ≤ 3·10⁻¹⁵ рад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A1A1A"/>
                </a:solidFill>
                <a:latin typeface="Arial"/>
              </a:rPr>
              <a:t>• табл. 2 диссертации = тонкая линза R/(2Nδ) (±1,2 %); реальный фокус объектива 1: 3,81 см от торца вместо 6,8 см</a:t>
            </a:r>
          </a:p>
        </p:txBody>
      </p:sp>
      <p:sp>
        <p:nvSpPr>
          <p:cNvPr id="21" name="Панель: Плоскость перетяжки: куда попадают фотоны, упавшие на массив"/>
          <p:cNvSpPr/>
          <p:nvPr/>
        </p:nvSpPr>
        <p:spPr>
          <a:xfrm>
            <a:off x="7056720" y="11141567"/>
            <a:ext cx="14006520" cy="9082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43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Заголовок: Плоскость перетяжки: куда попадают фотоны, упавшие на массив"/>
          <p:cNvSpPr/>
          <p:nvPr/>
        </p:nvSpPr>
        <p:spPr>
          <a:xfrm>
            <a:off x="7056720" y="11141568"/>
            <a:ext cx="14006520" cy="635796"/>
          </a:xfrm>
          <a:prstGeom prst="roundRect">
            <a:avLst>
              <a:gd name="adj" fmla="val 8000"/>
            </a:avLst>
          </a:prstGeom>
          <a:solidFill>
            <a:srgbClr val="14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Плоскость перетяжки: куда попадают фотоны, упавшие на массив</a:t>
            </a:r>
          </a:p>
        </p:txBody>
      </p:sp>
      <p:graphicFrame>
        <p:nvGraphicFramePr>
          <p:cNvPr id="23" name="Диаграмма: судьба фотонов в плоскости перетяжки"/>
          <p:cNvGraphicFramePr>
            <a:graphicFrameLocks noGrp="1"/>
          </p:cNvGraphicFramePr>
          <p:nvPr/>
        </p:nvGraphicFramePr>
        <p:xfrm>
          <a:off x="7227792" y="11898468"/>
          <a:ext cx="9729720" cy="64185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4" name="Диаграмма: состав шума"/>
          <p:cNvGraphicFramePr>
            <a:graphicFrameLocks noGrp="1"/>
          </p:cNvGraphicFramePr>
          <p:nvPr/>
        </p:nvGraphicFramePr>
        <p:xfrm>
          <a:off x="17107200" y="11898468"/>
          <a:ext cx="3806352" cy="41478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7107200" y="16288488"/>
            <a:ext cx="3806352" cy="66607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Arial"/>
              </a:rPr>
              <a:t>Перетяжка — от выходного торца; пятно — оценка по формуле (5.2.5)</a:t>
            </a:r>
          </a:p>
        </p:txBody>
      </p:sp>
      <p:graphicFrame>
        <p:nvGraphicFramePr>
          <p:cNvPr id="26" name="Таблица: перетяжка и пятно"/>
          <p:cNvGraphicFramePr>
            <a:graphicFrameLocks noGrp="1"/>
          </p:cNvGraphicFramePr>
          <p:nvPr/>
        </p:nvGraphicFramePr>
        <p:xfrm>
          <a:off x="17107200" y="17257320"/>
          <a:ext cx="3806351" cy="236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524"/>
                <a:gridCol w="1103842"/>
                <a:gridCol w="951588"/>
                <a:gridCol w="837397"/>
              </a:tblGrid>
              <a:tr h="59038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25 кэВ</a:t>
                      </a:r>
                    </a:p>
                  </a:txBody>
                  <a:tcPr marL="36000" marR="36000" marT="21600" marB="21600"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перетяжка, мм</a:t>
                      </a:r>
                    </a:p>
                  </a:txBody>
                  <a:tcPr marL="36000" marR="36000" marT="21600" marB="21600"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zx − zy, мм</a:t>
                      </a:r>
                    </a:p>
                  </a:txBody>
                  <a:tcPr marL="36000" marR="36000" marT="21600" marB="21600" anchor="ctr"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пятно, нм</a:t>
                      </a:r>
                    </a:p>
                  </a:txBody>
                  <a:tcPr marL="36000" marR="36000" marT="21600" marB="21600" anchor="ctr">
                    <a:solidFill>
                      <a:srgbClr val="14325C"/>
                    </a:solidFill>
                  </a:tcPr>
                </a:tc>
              </a:tr>
              <a:tr h="59038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Об. 1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38,2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-0,26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</a:tr>
              <a:tr h="59038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Об. 2, N=180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12,7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-0,19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36000" marR="36000" marT="21600" marB="21600" anchor="ctr">
                    <a:solidFill>
                      <a:srgbClr val="F3F6FA"/>
                    </a:solidFill>
                  </a:tcPr>
                </a:tc>
              </a:tr>
              <a:tr h="59038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Конд. 2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2207,7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-1,56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36000" marR="36000" marT="21600" marB="21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Текст: перетяжка"/>
          <p:cNvSpPr txBox="1"/>
          <p:nvPr/>
        </p:nvSpPr>
        <p:spPr>
          <a:xfrm>
            <a:off x="7270560" y="18407808"/>
            <a:ext cx="9665568" cy="16651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A1A1A"/>
                </a:solidFill>
                <a:latin typeface="Arial"/>
              </a:rPr>
              <a:t>В фокусное пятно (r ≤ 1 мкм) попадают только фотоны без взаимодействий; рассеянные (0,1–0,8 % упавших) приходят в сотнях мкм – мм от оси. Геометрическое пятно идеальной линзы &lt; 0,05 мкм (астигматизм X/Y); реальное задают дифракция с поглощением (~33 нм по (5.2.5)) и источник: при расходимости 1 мкрад σ = 82 нм.</a:t>
            </a:r>
          </a:p>
        </p:txBody>
      </p:sp>
      <p:sp>
        <p:nvSpPr>
          <p:cNvPr id="28" name="Панель: Роль сурьмы: K-край 30,49 кэВ"/>
          <p:cNvSpPr/>
          <p:nvPr/>
        </p:nvSpPr>
        <p:spPr>
          <a:xfrm>
            <a:off x="320760" y="20436300"/>
            <a:ext cx="20742480" cy="5752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7A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Заголовок: Роль сурьмы: K-край 30,49 кэВ"/>
          <p:cNvSpPr/>
          <p:nvPr/>
        </p:nvSpPr>
        <p:spPr>
          <a:xfrm>
            <a:off x="320760" y="20436299"/>
            <a:ext cx="20742480" cy="635796"/>
          </a:xfrm>
          <a:prstGeom prst="roundRect">
            <a:avLst>
              <a:gd name="adj" fmla="val 8000"/>
            </a:avLst>
          </a:prstGeom>
          <a:solidFill>
            <a:srgbClr val="7A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Роль сурьмы: K-край 30,49 кэВ</a:t>
            </a:r>
          </a:p>
        </p:txBody>
      </p:sp>
      <p:graphicFrame>
        <p:nvGraphicFramePr>
          <p:cNvPr id="30" name="Диаграмма: μ(E) SU-8"/>
          <p:cNvGraphicFramePr>
            <a:graphicFrameLocks noGrp="1"/>
          </p:cNvGraphicFramePr>
          <p:nvPr/>
        </p:nvGraphicFramePr>
        <p:xfrm>
          <a:off x="577368" y="21193200"/>
          <a:ext cx="6949800" cy="478360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31" name="Диаграмма: пропускание через K-край"/>
          <p:cNvGraphicFramePr>
            <a:graphicFrameLocks noGrp="1"/>
          </p:cNvGraphicFramePr>
          <p:nvPr/>
        </p:nvGraphicFramePr>
        <p:xfrm>
          <a:off x="7698240" y="21193200"/>
          <a:ext cx="6629040" cy="4783608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2" name="Текст: сурьма"/>
          <p:cNvSpPr txBox="1"/>
          <p:nvPr/>
        </p:nvSpPr>
        <p:spPr>
          <a:xfrm>
            <a:off x="14541120" y="21193200"/>
            <a:ext cx="6372432" cy="46927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A1A1A"/>
                </a:solidFill>
                <a:latin typeface="Arial"/>
              </a:rPr>
              <a:t>• 1,33 мас.% Sb дают 51% фотопоглощения SU-8 уже при 25 кэВ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A1A1A"/>
                </a:solidFill>
                <a:latin typeface="Arial"/>
              </a:rPr>
              <a:t>• на краю μ: 0,471 → 1,019 1/см (×2,2)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A1A1A"/>
                </a:solidFill>
                <a:latin typeface="Arial"/>
              </a:rPr>
              <a:t>• объектив 1, без взаимодействий: 42% (30,48 кэВ) → 20% (30,50 кэВ); при 35 кэВ — 26%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A1A1A"/>
                </a:solidFill>
                <a:latin typeface="Arial"/>
              </a:rPr>
              <a:t>• без Sb при 25 кэВ: 46% вместо 35%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A1A1A"/>
                </a:solidFill>
                <a:latin typeface="Arial"/>
              </a:rPr>
              <a:t>• выше края — флуоресценция Sb Kα/Kβ (вне фокусного пятна)</a:t>
            </a:r>
          </a:p>
        </p:txBody>
      </p:sp>
      <p:sp>
        <p:nvSpPr>
          <p:cNvPr id="33" name="Панель: Выводы"/>
          <p:cNvSpPr/>
          <p:nvPr/>
        </p:nvSpPr>
        <p:spPr>
          <a:xfrm>
            <a:off x="320760" y="26400672"/>
            <a:ext cx="20742480" cy="35120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143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Заголовок: Выводы"/>
          <p:cNvSpPr/>
          <p:nvPr/>
        </p:nvSpPr>
        <p:spPr>
          <a:xfrm>
            <a:off x="320760" y="26400672"/>
            <a:ext cx="20742480" cy="635796"/>
          </a:xfrm>
          <a:prstGeom prst="roundRect">
            <a:avLst>
              <a:gd name="adj" fmla="val 8000"/>
            </a:avLst>
          </a:prstGeom>
          <a:solidFill>
            <a:srgbClr val="14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8000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Выводы</a:t>
            </a:r>
          </a:p>
        </p:txBody>
      </p:sp>
      <p:sp>
        <p:nvSpPr>
          <p:cNvPr id="35" name="Текст: выводы"/>
          <p:cNvSpPr txBox="1"/>
          <p:nvPr/>
        </p:nvSpPr>
        <p:spPr>
          <a:xfrm>
            <a:off x="534600" y="27127296"/>
            <a:ext cx="20314800" cy="266428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1A1A1A"/>
                </a:solidFill>
                <a:latin typeface="Arial"/>
              </a:rPr>
              <a:t>1. Модель Geant4 с точным преломлением воспроизводит аналитику: один элемент — 10⁻⁷, массивы из 300–430 элементов — 10⁻¹⁰ (матричная модель).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1A1A1A"/>
                </a:solidFill>
                <a:latin typeface="Arial"/>
              </a:rPr>
              <a:t>2. Табл. 2 — тонколинзовые оценки: фокус длинных объективов в 1,8–3 раза ближе к торцу; объектив 2 (N = 215) при 25 кэВ фокусирует внутри себя.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1A1A1A"/>
                </a:solidFill>
                <a:latin typeface="Arial"/>
              </a:rPr>
              <a:t>3. В фокус приходит только непровзаимодействовавшая часть пучка: 23–46% при 25 кэВ; остальное поглощается (фотоэффект) или рассеивается из пучка; шум в плоскости перетяжки &lt; 1 % и весь вне пятна.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1A1A1A"/>
                </a:solidFill>
                <a:latin typeface="Arial"/>
              </a:rPr>
              <a:t>4. Над K-краем Sb пропускание падает вдвое: рабочую энергию МИР выгодно держать ≤ 30,4 кэВ, а снижение доли Sb в резисте увеличит пропускание (без Sb при 25 кэВ — в 1,3 раза больше фотонов в фокусе).</a:t>
            </a:r>
          </a:p>
          <a:p>
            <a:pPr algn="l">
              <a:lnSpc>
                <a:spcPct val="110000"/>
              </a:lnSpc>
            </a:pPr>
            <a:r>
              <a:rPr sz="1700" b="0">
                <a:solidFill>
                  <a:srgbClr val="1A1A1A"/>
                </a:solidFill>
                <a:latin typeface="Arial"/>
              </a:rPr>
              <a:t>5. Монте-Карло совпадает с законом Бугера–Ламберта–Бера по преломлённым траекториям; формула (5.2.6) с прямыми лучами занижает пропускание длинных объективов на 18–37 %, для конденсоров верна до 1 %.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5200" y="29942964"/>
            <a:ext cx="14648040" cy="2422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Arial"/>
              </a:rPr>
              <a:t>Geant4 11.4.2 · Монте-Карло 10⁵ фотонов на точку · все графики построены из файлов данных проекта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